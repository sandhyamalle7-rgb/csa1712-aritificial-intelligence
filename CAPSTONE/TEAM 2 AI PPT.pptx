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69" r:id="rId6"/>
    <p:sldId id="259" r:id="rId7"/>
    <p:sldId id="261" r:id="rId8"/>
    <p:sldId id="262" r:id="rId9"/>
    <p:sldId id="274" r:id="rId10"/>
    <p:sldId id="275" r:id="rId11"/>
    <p:sldId id="276" r:id="rId12"/>
    <p:sldId id="265" r:id="rId13"/>
    <p:sldId id="266" r:id="rId14"/>
    <p:sldId id="279" r:id="rId15"/>
    <p:sldId id="271" r:id="rId16"/>
    <p:sldId id="273" r:id="rId17"/>
    <p:sldId id="267" r:id="rId18"/>
    <p:sldId id="272" r:id="rId19"/>
    <p:sldId id="268" r:id="rId20"/>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34587" autoAdjust="0"/>
    <p:restoredTop sz="86378" autoAdjust="0"/>
  </p:normalViewPr>
  <p:slideViewPr>
    <p:cSldViewPr snapToGrid="0" snapToObjects="1" showGuides="1">
      <p:cViewPr>
        <p:scale>
          <a:sx n="108" d="100"/>
          <a:sy n="108" d="100"/>
        </p:scale>
        <p:origin x="-1426" y="-466"/>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5" d="100"/>
          <a:sy n="75" d="100"/>
        </p:scale>
        <p:origin x="-3346" y="-72"/>
      </p:cViewPr>
      <p:guideLst>
        <p:guide orient="horz" pos="2880"/>
        <p:guide pos="162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https://ae01.alicdn.com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https://www.build-electronic-circuits.com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https://www.slidemake.com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https://teachingwriting.stanford.edu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https://img.electronicdesign.com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https://i1.wp.com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E5E9CC1-C706-0F49-92D6-E571CC5EEA8F}"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12700" y="0"/>
            <a:ext cx="9173370" cy="514216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en-US"/>
              <a:t>Click to edit Master title style</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5987425" y="3778247"/>
            <a:ext cx="673100" cy="20955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127DEEDD-21BB-47E7-9586-8D8CBE4E2385}"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a:xfrm>
            <a:off x="2019298" y="3778247"/>
            <a:ext cx="3910976" cy="20955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a:xfrm>
            <a:off x="6717676" y="3778247"/>
            <a:ext cx="413375" cy="20955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EB2F9E-C9E0-4EA3-A9E2-0DF5F691060E}"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5" name="Straight Connector 14"/>
          <p:cNvCxnSpPr/>
          <p:nvPr/>
        </p:nvCxnSpPr>
        <p:spPr>
          <a:xfrm>
            <a:off x="2019299" y="2641598"/>
            <a:ext cx="5111751"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A7AE056-E91C-4F84-BAD6-96EF71B921FE}"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3EF51AE-A3EC-4B5C-BBEE-5BE19F0C3DE2}"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6" name="Straight Connector 15"/>
          <p:cNvCxnSpPr/>
          <p:nvPr/>
        </p:nvCxnSpPr>
        <p:spPr>
          <a:xfrm>
            <a:off x="1509542" y="2782939"/>
            <a:ext cx="6122535"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551B092-A2AF-4010-BE70-8179EC9A76A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spcBef>
                <a:spcPts val="505"/>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spcBef>
                <a:spcPts val="505"/>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4D5A4D6-2F3E-4AB3-9AAD-F86FA4EC764A}"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8" name="Straight Connector 1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1E66CEF-9313-493D-BEA7-2A0502D264C9}"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1E317F6-10D5-42F4-B923-70E953D3BE3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306C9CC-318C-4E70-91C2-BF570ACECC17}"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6" name="Straight Connector 15"/>
          <p:cNvCxnSpPr/>
          <p:nvPr/>
        </p:nvCxnSpPr>
        <p:spPr>
          <a:xfrm>
            <a:off x="1047127" y="2184400"/>
            <a:ext cx="26358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61C43A1E-86A2-4906-915B-B8948254E49F}"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3CBE081-D5C9-4A7B-9DD3-C94672E13DC0}"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F49C7BF-8F33-40E1-812C-FF531E0DDC2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5" name="Straight Connector 14"/>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70A88584-667A-4259-BFBF-A94EDBF130A5}"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endParaRPr lang="en-US" sz="6000" dirty="0">
              <a:solidFill>
                <a:schemeClr val="tx1"/>
              </a:solidFill>
              <a:effectLst/>
            </a:endParaRP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endParaRPr lang="en-US" sz="6000" dirty="0">
              <a:solidFill>
                <a:schemeClr val="tx1"/>
              </a:solidFill>
              <a:effectLst/>
            </a:endParaRPr>
          </a:p>
        </p:txBody>
      </p:sp>
      <p:cxnSp>
        <p:nvCxnSpPr>
          <p:cNvPr id="19" name="Straight Connector 18"/>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EE4C1AE-E74F-43DA-A6FD-DEBB92BB6EFF}"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2B959E1D-07A2-424D-9F84-A8007D176C56}"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endParaRPr lang="en-US" sz="6000" dirty="0">
              <a:solidFill>
                <a:schemeClr val="tx1"/>
              </a:solidFill>
              <a:effectLst/>
            </a:endParaRP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endParaRPr lang="en-US" sz="6000" dirty="0">
              <a:solidFill>
                <a:schemeClr val="tx1"/>
              </a:solidFill>
              <a:effectLst/>
            </a:endParaRPr>
          </a:p>
        </p:txBody>
      </p:sp>
      <p:cxnSp>
        <p:nvCxnSpPr>
          <p:cNvPr id="26" name="Straight Connector 25"/>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2F99FFF-5ADB-47B1-9372-435859E07032}"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5" name="Straight Connector 14"/>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7DE19873-A706-45F1-9AAD-6004FE125DC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202F7F3-D792-441E-AF10-15B593449578}"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4" name="Straight Connector 13"/>
          <p:cNvCxnSpPr/>
          <p:nvPr/>
        </p:nvCxnSpPr>
        <p:spPr>
          <a:xfrm>
            <a:off x="6647918" y="742950"/>
            <a:ext cx="0" cy="36576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AF5A71B3-99A7-4C14-A482-14D54FB923BE}" type="datetime6">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4.png"/><Relationship Id="rId2" Type="http://schemas.openxmlformats.org/officeDocument/2006/relationships/slideLayout" Target="../slideLayouts/slideLayout2.xml"/><Relationship Id="rId19" Type="http://schemas.openxmlformats.org/officeDocument/2006/relationships/image" Target="../media/image3.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1802" y="0"/>
            <a:ext cx="9172472" cy="5142161"/>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38DF114-BE6D-437F-A234-070E189FE2EA}"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630" indent="-214630" algn="l" defTabSz="342900" rtl="0" eaLnBrk="1" latinLnBrk="0" hangingPunct="1">
        <a:spcBef>
          <a:spcPct val="20000"/>
        </a:spcBef>
        <a:spcAft>
          <a:spcPts val="45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1pPr>
      <a:lvl2pPr marL="557530" indent="-214630" algn="l" defTabSz="342900" rtl="0" eaLnBrk="1" latinLnBrk="0" hangingPunct="1">
        <a:spcBef>
          <a:spcPct val="20000"/>
        </a:spcBef>
        <a:spcAft>
          <a:spcPts val="450"/>
        </a:spcAft>
        <a:buClr>
          <a:schemeClr val="accent1"/>
        </a:buClr>
        <a:buSzPct val="115000"/>
        <a:buFont typeface="Arial" panose="020B0604020202020204"/>
        <a:buChar char="•"/>
        <a:defRPr sz="1500" kern="1200" cap="none">
          <a:solidFill>
            <a:schemeClr val="tx1">
              <a:lumMod val="85000"/>
              <a:lumOff val="15000"/>
            </a:schemeClr>
          </a:solidFill>
          <a:effectLst/>
          <a:latin typeface="+mn-lt"/>
          <a:ea typeface="+mn-ea"/>
          <a:cs typeface="+mn-cs"/>
        </a:defRPr>
      </a:lvl2pPr>
      <a:lvl3pPr marL="900430" indent="-214630" algn="l" defTabSz="342900" rtl="0" eaLnBrk="1" latinLnBrk="0" hangingPunct="1">
        <a:spcBef>
          <a:spcPct val="20000"/>
        </a:spcBef>
        <a:spcAft>
          <a:spcPts val="450"/>
        </a:spcAft>
        <a:buClr>
          <a:schemeClr val="accent1"/>
        </a:buClr>
        <a:buSzPct val="115000"/>
        <a:buFont typeface="Arial" panose="020B0604020202020204"/>
        <a:buChar char="•"/>
        <a:defRPr sz="1350" kern="1200" cap="none">
          <a:solidFill>
            <a:schemeClr val="tx1">
              <a:lumMod val="85000"/>
              <a:lumOff val="15000"/>
            </a:schemeClr>
          </a:solidFill>
          <a:effectLst/>
          <a:latin typeface="+mn-lt"/>
          <a:ea typeface="+mn-ea"/>
          <a:cs typeface="+mn-cs"/>
        </a:defRPr>
      </a:lvl3pPr>
      <a:lvl4pPr marL="1157605" indent="-128905" algn="l" defTabSz="342900" rtl="0" eaLnBrk="1" latinLnBrk="0" hangingPunct="1">
        <a:spcBef>
          <a:spcPct val="20000"/>
        </a:spcBef>
        <a:spcAft>
          <a:spcPts val="450"/>
        </a:spcAft>
        <a:buClr>
          <a:schemeClr val="accent1"/>
        </a:buClr>
        <a:buSzPct val="115000"/>
        <a:buFont typeface="Arial" panose="020B0604020202020204"/>
        <a:buChar char="•"/>
        <a:defRPr sz="1200" kern="1200" cap="none">
          <a:solidFill>
            <a:schemeClr val="tx1">
              <a:lumMod val="85000"/>
              <a:lumOff val="15000"/>
            </a:schemeClr>
          </a:solidFill>
          <a:effectLst/>
          <a:latin typeface="+mn-lt"/>
          <a:ea typeface="+mn-ea"/>
          <a:cs typeface="+mn-cs"/>
        </a:defRPr>
      </a:lvl4pPr>
      <a:lvl5pPr marL="1500505" indent="-128905"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8.pn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8.xml"/><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8.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8.xml"/><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8.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8.pn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13471" y="1803079"/>
            <a:ext cx="8229600" cy="935516"/>
          </a:xfrm>
          <a:prstGeom prst="rect">
            <a:avLst/>
          </a:prstGeom>
          <a:noFill/>
        </p:spPr>
        <p:txBody>
          <a:bodyPr wrap="square" rtlCol="0" anchor="ctr"/>
          <a:lstStyle/>
          <a:p>
            <a:pPr algn="ctr"/>
            <a:endParaRPr lang="en-US" sz="2400" b="1" u="sng" dirty="0">
              <a:solidFill>
                <a:srgbClr val="00206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3471" y="541460"/>
            <a:ext cx="8110024" cy="1125415"/>
          </a:xfrm>
          <a:prstGeom prst="rect">
            <a:avLst/>
          </a:prstGeom>
        </p:spPr>
      </p:pic>
      <p:sp>
        <p:nvSpPr>
          <p:cNvPr id="9" name="TextBox 8"/>
          <p:cNvSpPr txBox="1"/>
          <p:nvPr/>
        </p:nvSpPr>
        <p:spPr>
          <a:xfrm>
            <a:off x="4350385" y="2832735"/>
            <a:ext cx="4923790" cy="1568450"/>
          </a:xfrm>
          <a:prstGeom prst="rect">
            <a:avLst/>
          </a:prstGeom>
          <a:noFill/>
        </p:spPr>
        <p:txBody>
          <a:bodyPr wrap="square">
            <a:spAutoFit/>
          </a:bodyPr>
          <a:lstStyle/>
          <a:p>
            <a:pPr algn="ctr">
              <a:lnSpc>
                <a:spcPct val="150000"/>
              </a:lnSpc>
            </a:pPr>
            <a:r>
              <a:rPr lang="en-IN" sz="1600" b="1" dirty="0">
                <a:latin typeface="Times New Roman" panose="02020603050405020304" pitchFamily="18" charset="0"/>
                <a:cs typeface="Times New Roman" panose="02020603050405020304" pitchFamily="18" charset="0"/>
              </a:rPr>
              <a:t>PRESENTED BY</a:t>
            </a: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US" sz="1600" b="1" dirty="0" smtClean="0">
                <a:latin typeface="Times New Roman" panose="02020603050405020304" pitchFamily="18" charset="0"/>
                <a:cs typeface="Times New Roman" panose="02020603050405020304" pitchFamily="18" charset="0"/>
                <a:sym typeface="+mn-ea"/>
              </a:rPr>
              <a:t>K.ASWINI(192312397)</a:t>
            </a:r>
            <a:r>
              <a:rPr lang="en-IN" altLang="en-US" sz="1600" b="1" dirty="0" smtClean="0">
                <a:latin typeface="Times New Roman" panose="02020603050405020304" pitchFamily="18" charset="0"/>
                <a:cs typeface="Times New Roman" panose="02020603050405020304" pitchFamily="18" charset="0"/>
                <a:sym typeface="+mn-ea"/>
              </a:rPr>
              <a:t>-ECE</a:t>
            </a:r>
            <a:endParaRPr lang="en-US" sz="1600" b="1" dirty="0" smtClean="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M.SANDHYA(192312421)-ECE</a:t>
            </a: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M.INDUPRIYA(192372085)-CSE</a:t>
            </a:r>
            <a:endParaRPr lang="en-IN" sz="1600" b="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513715" y="3635375"/>
            <a:ext cx="3639185" cy="583565"/>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Guided by</a:t>
            </a:r>
            <a:endParaRPr lang="en-IN" sz="1600" b="1" dirty="0">
              <a:latin typeface="Times New Roman" panose="02020603050405020304" pitchFamily="18" charset="0"/>
              <a:cs typeface="Times New Roman" panose="02020603050405020304" pitchFamily="18" charset="0"/>
            </a:endParaRPr>
          </a:p>
          <a:p>
            <a:r>
              <a:rPr lang="en-IN" sz="1600" b="1" dirty="0" smtClean="0">
                <a:latin typeface="Times New Roman" panose="02020603050405020304" pitchFamily="18" charset="0"/>
                <a:cs typeface="Times New Roman" panose="02020603050405020304" pitchFamily="18" charset="0"/>
              </a:rPr>
              <a:t>Dr. Veeramani R</a:t>
            </a:r>
            <a:endParaRPr lang="en-IN" sz="16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559192" y="3060284"/>
            <a:ext cx="4874454" cy="521970"/>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COURSE NAME : ARTIFICIAL INTELLIGENCE</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COURSE CODE:CSA1712</a:t>
            </a:r>
            <a:endParaRPr lang="en-IN" sz="1400" b="1" dirty="0">
              <a:latin typeface="Times New Roman" panose="02020603050405020304" pitchFamily="18" charset="0"/>
              <a:cs typeface="Times New Roman" panose="02020603050405020304" pitchFamily="18" charset="0"/>
            </a:endParaRPr>
          </a:p>
        </p:txBody>
      </p:sp>
      <p:graphicFrame>
        <p:nvGraphicFramePr>
          <p:cNvPr id="3" name="Table 2"/>
          <p:cNvGraphicFramePr/>
          <p:nvPr/>
        </p:nvGraphicFramePr>
        <p:xfrm>
          <a:off x="914400" y="2007870"/>
          <a:ext cx="7307580" cy="1127760"/>
        </p:xfrm>
        <a:graphic>
          <a:graphicData uri="http://schemas.openxmlformats.org/drawingml/2006/table">
            <a:tbl>
              <a:tblPr/>
              <a:tblGrid>
                <a:gridCol w="7307580"/>
              </a:tblGrid>
              <a:tr h="1112520">
                <a:tc>
                  <a:txBody>
                    <a:bodyPr/>
                    <a:p>
                      <a:pPr algn="ctr"/>
                      <a:r>
                        <a:rPr lang="en-US" altLang="en-US" sz="2400" b="1" dirty="0">
                          <a:solidFill>
                            <a:schemeClr val="tx1"/>
                          </a:solidFill>
                          <a:latin typeface="Times New Roman" panose="02020603050405020304" pitchFamily="18" charset="0"/>
                          <a:ea typeface="+mn-ea"/>
                          <a:cs typeface="Times New Roman" panose="02020603050405020304" pitchFamily="18" charset="0"/>
                        </a:rPr>
                        <a:t>AI-BASED CORAL HEALTH ASSESSMENT USING IMAGE CLASSIFICATION</a:t>
                      </a:r>
                      <a:endParaRPr lang="en-US" altLang="en-US" sz="2400" b="1" dirty="0">
                        <a:solidFill>
                          <a:schemeClr val="tx1"/>
                        </a:solidFill>
                        <a:latin typeface="Times New Roman" panose="02020603050405020304" pitchFamily="18" charset="0"/>
                        <a:ea typeface="+mn-ea"/>
                        <a:cs typeface="Times New Roman" panose="02020603050405020304" pitchFamily="18" charset="0"/>
                      </a:endParaRPr>
                    </a:p>
                  </a:txBody>
                  <a:tcPr marL="23177" marR="23177" marT="15557" marB="15557" anchor="ctr" anchorCtr="0">
                    <a:lnL w="7620" cap="flat" cmpd="sng">
                      <a:solidFill>
                        <a:srgbClr val="FFFFFF"/>
                      </a:solidFill>
                      <a:prstDash val="solid"/>
                      <a:headEnd type="none" w="med" len="med"/>
                      <a:tailEnd type="none" w="med" len="med"/>
                    </a:lnL>
                    <a:lnR w="7620" cap="flat" cmpd="sng">
                      <a:solidFill>
                        <a:srgbClr val="FFFFFF"/>
                      </a:solidFill>
                      <a:prstDash val="solid"/>
                      <a:headEnd type="none" w="med" len="med"/>
                      <a:tailEnd type="none" w="med" len="med"/>
                    </a:lnR>
                    <a:lnT w="7620" cap="flat" cmpd="sng">
                      <a:solidFill>
                        <a:srgbClr val="FFFFFF"/>
                      </a:solidFill>
                      <a:prstDash val="solid"/>
                      <a:headEnd type="none" w="med" len="med"/>
                      <a:tailEnd type="none" w="med" len="med"/>
                    </a:lnT>
                    <a:lnB w="7620" cap="flat" cmpd="sng">
                      <a:solidFill>
                        <a:srgbClr val="FFFFFF"/>
                      </a:solidFill>
                      <a:prstDash val="solid"/>
                      <a:headEnd type="none" w="med" len="med"/>
                      <a:tailEnd type="none" w="med" len="med"/>
                    </a:lnB>
                    <a:no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39174" y="381196"/>
            <a:ext cx="8229600" cy="822960"/>
          </a:xfrm>
          <a:prstGeom prst="rect">
            <a:avLst/>
          </a:prstGeom>
          <a:noFill/>
        </p:spPr>
        <p:txBody>
          <a:bodyPr wrap="square" rtlCol="0" anchor="ctr"/>
          <a:lstStyle/>
          <a:p>
            <a:pPr algn="ctr"/>
            <a:r>
              <a:rPr lang="en-US" sz="3600" b="1" u="sng" dirty="0" smtClean="0">
                <a:solidFill>
                  <a:srgbClr val="002060"/>
                </a:solidFill>
                <a:latin typeface="Times New Roman" panose="02020603050405020304" pitchFamily="18" charset="0"/>
                <a:ea typeface="Optima" pitchFamily="34" charset="-122"/>
                <a:cs typeface="Times New Roman" panose="02020603050405020304" pitchFamily="18" charset="0"/>
              </a:rPr>
              <a:t>I</a:t>
            </a:r>
            <a:r>
              <a:rPr lang="en-IN" altLang="en-US" sz="3600" b="1" u="sng" dirty="0" smtClean="0">
                <a:solidFill>
                  <a:srgbClr val="002060"/>
                </a:solidFill>
                <a:latin typeface="Times New Roman" panose="02020603050405020304" pitchFamily="18" charset="0"/>
                <a:ea typeface="Optima" pitchFamily="34" charset="-122"/>
                <a:cs typeface="Times New Roman" panose="02020603050405020304" pitchFamily="18" charset="0"/>
              </a:rPr>
              <a:t>NTRODUCTION</a:t>
            </a:r>
            <a:endParaRPr lang="en-IN" altLang="en-US" sz="3600" b="1" u="sng" dirty="0" smtClean="0">
              <a:solidFill>
                <a:srgbClr val="002060"/>
              </a:solidFill>
              <a:latin typeface="Times New Roman" panose="02020603050405020304" pitchFamily="18" charset="0"/>
              <a:ea typeface="Optima" pitchFamily="34" charset="-122"/>
              <a:cs typeface="Times New Roman" panose="02020603050405020304" pitchFamily="18" charset="0"/>
            </a:endParaRPr>
          </a:p>
        </p:txBody>
      </p:sp>
      <p:sp>
        <p:nvSpPr>
          <p:cNvPr id="5" name="Text 1"/>
          <p:cNvSpPr/>
          <p:nvPr/>
        </p:nvSpPr>
        <p:spPr>
          <a:xfrm>
            <a:off x="581660" y="1069340"/>
            <a:ext cx="7945120" cy="2370455"/>
          </a:xfrm>
          <a:prstGeom prst="rect">
            <a:avLst/>
          </a:prstGeom>
          <a:noFill/>
        </p:spPr>
        <p:txBody>
          <a:bodyPr wrap="square" rtlCol="0" anchor="t"/>
          <a:lstStyle/>
          <a:p>
            <a:pPr indent="0" algn="just">
              <a:buFont typeface="Wingdings" panose="05000000000000000000" pitchFamily="2" charset="2"/>
              <a:buNone/>
            </a:pP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Coral reefs are among the most diverse and valuable ecosystems on Earth, playing a crucial role in supporting marine life, protecting coastlines, and sustaining local economies. . </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Monitoring coral health is therefore essential for conservation and timely intervention. Traditional methods of coral assessment are often time-consuming, expensive, and require expert knowledge.</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To address these challenges, an image-based framework for identifying coral health states offers an efficient and scalable solution. </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By using digital image processing and machine learning techniques, this framework analyzes visual features such as color, texture, and structural patterns to classify corals into categories like healthy, bleached, or diseased. </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This approach enables faster, more accurate, and automated monitoring of coral reefs, contributing to better environmental management and preservation efforts.</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altLang="en-US" sz="1600" dirty="0">
              <a:latin typeface="Times New Roman" panose="02020603050405020304" pitchFamily="18" charset="0"/>
              <a:cs typeface="Times New Roman" panose="02020603050405020304" pitchFamily="18" charset="0"/>
            </a:endParaRPr>
          </a:p>
        </p:txBody>
      </p:sp>
      <p:pic>
        <p:nvPicPr>
          <p:cNvPr id="1028"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56150"/>
            <a:ext cx="769568" cy="836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60010" y="639825"/>
            <a:ext cx="7200897" cy="532544"/>
          </a:xfrm>
        </p:spPr>
        <p:txBody>
          <a:bodyPr>
            <a:normAutofit fontScale="90000"/>
          </a:bodyPr>
          <a:lstStyle/>
          <a:p>
            <a:br>
              <a:rPr lang="en-IN" b="1" u="sng" dirty="0">
                <a:solidFill>
                  <a:schemeClr val="accent3">
                    <a:lumMod val="50000"/>
                  </a:schemeClr>
                </a:solidFill>
              </a:rPr>
            </a:br>
            <a:br>
              <a:rPr lang="en-IN" b="1" u="sng" dirty="0" smtClean="0">
                <a:solidFill>
                  <a:schemeClr val="accent3">
                    <a:lumMod val="50000"/>
                  </a:schemeClr>
                </a:solidFill>
              </a:rPr>
            </a:br>
            <a:r>
              <a:rPr lang="en-IN" b="1" u="sng" dirty="0" smtClean="0">
                <a:solidFill>
                  <a:schemeClr val="accent3">
                    <a:lumMod val="50000"/>
                  </a:schemeClr>
                </a:solidFill>
                <a:latin typeface="Times New Roman" panose="02020603050405020304" pitchFamily="18" charset="0"/>
                <a:cs typeface="Times New Roman" panose="02020603050405020304" pitchFamily="18" charset="0"/>
              </a:rPr>
              <a:t>OBJECTIVES</a:t>
            </a:r>
            <a:br>
              <a:rPr lang="en-IN" b="1" u="sng" dirty="0">
                <a:solidFill>
                  <a:schemeClr val="accent3">
                    <a:lumMod val="50000"/>
                  </a:schemeClr>
                </a:solidFill>
              </a:rPr>
            </a:br>
            <a:br>
              <a:rPr lang="en-IN" b="1" u="sng" dirty="0" smtClean="0">
                <a:solidFill>
                  <a:schemeClr val="accent3">
                    <a:lumMod val="50000"/>
                  </a:schemeClr>
                </a:solidFill>
              </a:rPr>
            </a:br>
            <a:endParaRPr lang="en-IN" sz="1800" b="1" u="sng"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AF5A71B3-99A7-4C14-A482-14D54FB923BE}" type="datetime6">
              <a:rPr lang="en-US" smtClean="0"/>
            </a:fld>
            <a:endParaRPr lang="en-US"/>
          </a:p>
        </p:txBody>
      </p:sp>
      <p:pic>
        <p:nvPicPr>
          <p:cNvPr id="4"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56150"/>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859839" y="1171917"/>
            <a:ext cx="7512145" cy="3692525"/>
          </a:xfrm>
          <a:prstGeom prst="rect">
            <a:avLst/>
          </a:prstGeom>
          <a:noFill/>
        </p:spPr>
        <p:txBody>
          <a:bodyPr wrap="square" rtlCol="0">
            <a:spAutoFit/>
          </a:bodyPr>
          <a:lstStyle/>
          <a:p>
            <a:pPr indent="0" algn="just">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a:p>
            <a:pPr indent="0" algn="just">
              <a:buFont typeface="Wingdings" panose="05000000000000000000" pitchFamily="2" charset="2"/>
              <a:buNone/>
            </a:pPr>
            <a:r>
              <a:rPr lang="en-US" altLang="en-US" b="1" dirty="0">
                <a:latin typeface="Times New Roman" panose="02020603050405020304" pitchFamily="18" charset="0"/>
                <a:cs typeface="Times New Roman" panose="02020603050405020304" pitchFamily="18" charset="0"/>
              </a:rPr>
              <a:t>The main objective of this framework is to accurately classify coral health states (such as healthy, bleached, or diseased) using image-based analysis techniques</a:t>
            </a:r>
            <a:r>
              <a:rPr lang="en-IN" altLang="en-US" b="1" dirty="0">
                <a:latin typeface="Times New Roman" panose="02020603050405020304" pitchFamily="18" charset="0"/>
                <a:cs typeface="Times New Roman" panose="02020603050405020304" pitchFamily="18" charset="0"/>
              </a:rPr>
              <a:t>).</a:t>
            </a:r>
            <a:endParaRPr lang="en-US" altLang="en-US"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This objective focuses on developing a system that can automatically analyze images of coral reefs and determine their health condition without relying entirely on human experts.</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By achieving this objective, the system helps in early detection of coral damage, reduces manual effort, and enables large-scale monitoring of marine ecosystems. This is especially important for taking timely conservation actions, protecting biodiversity, and maintaining the ecological balance of ocean environments.</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316523" y="313006"/>
            <a:ext cx="8229600" cy="1079696"/>
          </a:xfrm>
          <a:prstGeom prst="rect">
            <a:avLst/>
          </a:prstGeom>
          <a:noFill/>
        </p:spPr>
        <p:txBody>
          <a:bodyPr wrap="square" rtlCol="0" anchor="ctr"/>
          <a:lstStyle/>
          <a:p>
            <a:pPr algn="ctr"/>
            <a:r>
              <a:rPr lang="en-IN" sz="3600" b="1" u="sng" dirty="0">
                <a:solidFill>
                  <a:srgbClr val="002060"/>
                </a:solidFill>
                <a:latin typeface="Times New Roman" panose="02020603050405020304" pitchFamily="18" charset="0"/>
                <a:cs typeface="Times New Roman" panose="02020603050405020304" pitchFamily="18" charset="0"/>
              </a:rPr>
              <a:t>PROBLEM STATEMENT</a:t>
            </a:r>
            <a:endParaRPr lang="en-US" sz="3600" b="1" u="sng" dirty="0">
              <a:solidFill>
                <a:srgbClr val="002060"/>
              </a:solidFill>
              <a:latin typeface="Times New Roman" panose="02020603050405020304" pitchFamily="18" charset="0"/>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73954"/>
            <a:ext cx="769568" cy="8361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p:cNvGraphicFramePr>
            <a:graphicFrameLocks noGrp="1"/>
          </p:cNvGraphicFramePr>
          <p:nvPr/>
        </p:nvGraphicFramePr>
        <p:xfrm>
          <a:off x="1930498" y="4846320"/>
          <a:ext cx="5001650" cy="297180"/>
        </p:xfrm>
        <a:graphic>
          <a:graphicData uri="http://schemas.openxmlformats.org/drawingml/2006/table">
            <a:tbl>
              <a:tblPr>
                <a:tableStyleId>{073A0DAA-6AF3-43AB-8588-CEC1D06C72B9}</a:tableStyleId>
              </a:tblPr>
              <a:tblGrid>
                <a:gridCol w="609806"/>
                <a:gridCol w="1243271"/>
                <a:gridCol w="1316087"/>
                <a:gridCol w="1832486"/>
              </a:tblGrid>
              <a:tr h="0">
                <a:tc>
                  <a:txBody>
                    <a:bodyPr/>
                    <a:lstStyle/>
                    <a:p>
                      <a:endParaRPr lang="en-IN" dirty="0"/>
                    </a:p>
                  </a:txBody>
                  <a:tcPr/>
                </a:tc>
                <a:tc>
                  <a:txBody>
                    <a:bodyPr/>
                    <a:lstStyle/>
                    <a:p>
                      <a:endParaRPr lang="en-IN"/>
                    </a:p>
                  </a:txBody>
                  <a:tcPr anchor="ctr"/>
                </a:tc>
                <a:tc>
                  <a:txBody>
                    <a:bodyPr/>
                    <a:lstStyle/>
                    <a:p>
                      <a:endParaRPr lang="en-IN"/>
                    </a:p>
                  </a:txBody>
                  <a:tcPr/>
                </a:tc>
                <a:tc>
                  <a:txBody>
                    <a:bodyPr/>
                    <a:lstStyle/>
                    <a:p>
                      <a:endParaRPr lang="en-IN" dirty="0"/>
                    </a:p>
                  </a:txBody>
                  <a:tcPr/>
                </a:tc>
              </a:tr>
            </a:tbl>
          </a:graphicData>
        </a:graphic>
      </p:graphicFrame>
      <p:sp>
        <p:nvSpPr>
          <p:cNvPr id="2" name="TextBox 1"/>
          <p:cNvSpPr txBox="1"/>
          <p:nvPr/>
        </p:nvSpPr>
        <p:spPr>
          <a:xfrm>
            <a:off x="647700" y="1256030"/>
            <a:ext cx="7733665" cy="2861310"/>
          </a:xfrm>
          <a:prstGeom prst="rect">
            <a:avLst/>
          </a:prstGeom>
          <a:noFill/>
        </p:spPr>
        <p:txBody>
          <a:bodyPr wrap="square" rtlCol="0">
            <a:spAutoFit/>
          </a:bodyPr>
          <a:lstStyle/>
          <a:p>
            <a:pPr indent="0" algn="just">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Coral reefs are rapidly degrading due to environmental stressors such as rising sea temperatures, pollution, and ocean acidification. </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Detecting changes in coral health at an early stage is critical for effective conservation; however, traditional monitoring methods rely heavily on manual inspection by experts, which is time-consuming, costly, and not scalable for large reef areas. Additionally, visual assessment can be subjective and prone to human error.</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Therefore, there is a need for an automated, accurate, and efficient system that can analyze coral images and identify their health status. </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1035854" y="641545"/>
            <a:ext cx="7005711" cy="638224"/>
          </a:xfrm>
          <a:prstGeom prst="rect">
            <a:avLst/>
          </a:prstGeom>
          <a:noFill/>
        </p:spPr>
        <p:txBody>
          <a:bodyPr wrap="square" rtlCol="0" anchor="ctr"/>
          <a:lstStyle/>
          <a:p>
            <a:pPr algn="ctr"/>
            <a:r>
              <a:rPr lang="en-IN" altLang="en-US" sz="2800" b="1" u="sng" dirty="0">
                <a:solidFill>
                  <a:srgbClr val="002060"/>
                </a:solidFill>
                <a:latin typeface="Times New Roman" panose="02020603050405020304" pitchFamily="18" charset="0"/>
                <a:ea typeface="Optima" pitchFamily="34" charset="-122"/>
                <a:cs typeface="Times New Roman" panose="02020603050405020304" pitchFamily="18" charset="0"/>
              </a:rPr>
              <a:t>EXISTING SYSTEM </a:t>
            </a:r>
            <a:endParaRPr lang="en-IN" altLang="en-US" sz="2800" u="sng" dirty="0">
              <a:solidFill>
                <a:srgbClr val="002060"/>
              </a:solidFill>
              <a:latin typeface="Times New Roman" panose="02020603050405020304" pitchFamily="18" charset="0"/>
              <a:cs typeface="Times New Roman" panose="02020603050405020304" pitchFamily="18" charset="0"/>
            </a:endParaRPr>
          </a:p>
        </p:txBody>
      </p:sp>
      <p:sp>
        <p:nvSpPr>
          <p:cNvPr id="5" name="Text 1"/>
          <p:cNvSpPr/>
          <p:nvPr/>
        </p:nvSpPr>
        <p:spPr>
          <a:xfrm>
            <a:off x="808892" y="1188182"/>
            <a:ext cx="7542162" cy="914938"/>
          </a:xfrm>
          <a:prstGeom prst="rect">
            <a:avLst/>
          </a:prstGeom>
          <a:noFill/>
        </p:spPr>
        <p:txBody>
          <a:bodyPr wrap="square" rtlCol="0" anchor="t"/>
          <a:lstStyle/>
          <a:p>
            <a:pPr indent="0" algn="just">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Currently, coral health monitoring is mainly done using manual and traditional survey methods. Marine experts and divers physically visit reef locations to observe and record coral conditions. </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They capture underwater photographs or videos and later analyze them visually to identify whether the coral is healthy, bleached, or affected by disease. In some cases, basic image processing techniques are used, such as simple color thresholding or segmentation, to highlight changes in coral appearance.</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Due to these challenges, existing methods are not efficient for large-scale, real-time monitoring, which creates the need for more advanced and automated approaches.</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p:txBody>
      </p:sp>
      <p:pic>
        <p:nvPicPr>
          <p:cNvPr id="2"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73954"/>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4"/>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1152732" y="598029"/>
            <a:ext cx="6679894" cy="822960"/>
          </a:xfrm>
          <a:prstGeom prst="rect">
            <a:avLst/>
          </a:prstGeom>
          <a:noFill/>
        </p:spPr>
        <p:txBody>
          <a:bodyPr wrap="square" rtlCol="0" anchor="ctr"/>
          <a:lstStyle/>
          <a:p>
            <a:pPr algn="ctr"/>
            <a:r>
              <a:rPr lang="en-IN" altLang="en-US" sz="2400" b="1" u="sng" dirty="0">
                <a:solidFill>
                  <a:srgbClr val="002060"/>
                </a:solidFill>
                <a:latin typeface="Times New Roman" panose="02020603050405020304" pitchFamily="18" charset="0"/>
                <a:cs typeface="Times New Roman" panose="02020603050405020304" pitchFamily="18" charset="0"/>
              </a:rPr>
              <a:t>PROPOSED SYSTEM </a:t>
            </a:r>
            <a:endParaRPr lang="en-IN" altLang="en-US" sz="2400" b="1" u="sng" dirty="0">
              <a:solidFill>
                <a:srgbClr val="002060"/>
              </a:solidFill>
              <a:latin typeface="Times New Roman" panose="02020603050405020304" pitchFamily="18" charset="0"/>
              <a:cs typeface="Times New Roman" panose="02020603050405020304" pitchFamily="18" charset="0"/>
            </a:endParaRPr>
          </a:p>
        </p:txBody>
      </p:sp>
      <p:pic>
        <p:nvPicPr>
          <p:cNvPr id="2"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029" y="579463"/>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
          <p:cNvSpPr>
            <a:spLocks noChangeArrowheads="1"/>
          </p:cNvSpPr>
          <p:nvPr/>
        </p:nvSpPr>
        <p:spPr bwMode="auto">
          <a:xfrm>
            <a:off x="859814" y="1420953"/>
            <a:ext cx="7723116" cy="258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indent="0" algn="just" defTabSz="914400" eaLnBrk="0" fontAlgn="base" hangingPunct="0">
              <a:spcBef>
                <a:spcPct val="0"/>
              </a:spcBef>
              <a:spcAft>
                <a:spcPct val="0"/>
              </a:spcAft>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 proposed method uses image processing and machine learning to automatically identify coral health from underwater images. </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First, the images are cleaned and enhanced to remove noise and correct color. Then, important features like color and texture are extracted. </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These features are given to a model (such as a CNN) that classifies the coral as healthy, bleached, or diseased. This method is faster, more accurate, and reduces manual effort compared to traditional approaches.</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Title 1"/>
          <p:cNvSpPr>
            <a:spLocks noGrp="1"/>
          </p:cNvSpPr>
          <p:nvPr>
            <p:ph type="title"/>
          </p:nvPr>
        </p:nvSpPr>
        <p:spPr>
          <a:xfrm>
            <a:off x="918212" y="523240"/>
            <a:ext cx="7200897" cy="977900"/>
          </a:xfrm>
        </p:spPr>
        <p:txBody>
          <a:bodyPr>
            <a:normAutofit/>
          </a:bodyPr>
          <a:p>
            <a:r>
              <a:rPr lang="en-IN" altLang="en-US" b="1">
                <a:latin typeface="Times New Roman" panose="02020603050405020304" pitchFamily="18" charset="0"/>
                <a:cs typeface="Times New Roman" panose="02020603050405020304" pitchFamily="18" charset="0"/>
              </a:rPr>
              <a:t>MODULE 1 </a:t>
            </a:r>
            <a:endParaRPr lang="en-IN" altLang="en-US" b="1">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p>
            <a:fld id="{AF5A71B3-99A7-4C14-A482-14D54FB923BE}" type="datetime6">
              <a:rPr lang="en-US" smtClean="0"/>
            </a:fld>
            <a:endParaRPr lang="en-US"/>
          </a:p>
        </p:txBody>
      </p:sp>
      <p:sp>
        <p:nvSpPr>
          <p:cNvPr id="4" name="Text Box 3"/>
          <p:cNvSpPr txBox="1"/>
          <p:nvPr/>
        </p:nvSpPr>
        <p:spPr>
          <a:xfrm>
            <a:off x="1007745" y="1264920"/>
            <a:ext cx="7181215" cy="1017270"/>
          </a:xfrm>
          <a:prstGeom prst="rect">
            <a:avLst/>
          </a:prstGeom>
          <a:noFill/>
        </p:spPr>
        <p:txBody>
          <a:bodyPr wrap="square" rtlCol="0">
            <a:noAutofit/>
          </a:bodyPr>
          <a:p>
            <a:pPr algn="ctr"/>
            <a:r>
              <a:rPr lang="en-US" altLang="en-US" b="1">
                <a:latin typeface="Times New Roman" panose="02020603050405020304" pitchFamily="18" charset="0"/>
                <a:cs typeface="Times New Roman" panose="02020603050405020304" pitchFamily="18" charset="0"/>
              </a:rPr>
              <a:t>Data Acquisition &amp; Preprocessing</a:t>
            </a:r>
            <a:endParaRPr lang="en-US" altLang="en-US" b="1">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Flow:</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Coral Image →</a:t>
            </a:r>
            <a:r>
              <a:rPr lang="zh-CN"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Resize &amp; Normalize → Clean Image</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Example: A coral reef photo is captured and cleaned to remove noise and improve clarity.</a:t>
            </a:r>
            <a:endParaRPr lang="en-US" altLang="en-US">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1136015" y="2804795"/>
            <a:ext cx="6675755" cy="1671955"/>
          </a:xfrm>
          <a:prstGeom prst="rect">
            <a:avLst/>
          </a:prstGeom>
        </p:spPr>
      </p:pic>
      <p:pic>
        <p:nvPicPr>
          <p:cNvPr id="7"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029" y="579463"/>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Title 1"/>
          <p:cNvSpPr>
            <a:spLocks noGrp="1"/>
          </p:cNvSpPr>
          <p:nvPr>
            <p:ph type="title"/>
          </p:nvPr>
        </p:nvSpPr>
        <p:spPr/>
        <p:txBody>
          <a:bodyPr/>
          <a:p>
            <a:r>
              <a:rPr lang="en-IN" altLang="en-US" b="1">
                <a:latin typeface="Times New Roman" panose="02020603050405020304" pitchFamily="18" charset="0"/>
                <a:cs typeface="Times New Roman" panose="02020603050405020304" pitchFamily="18" charset="0"/>
              </a:rPr>
              <a:t>MODULE 2 </a:t>
            </a:r>
            <a:endParaRPr lang="en-IN" altLang="en-US" b="1">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p>
            <a:fld id="{AF5A71B3-99A7-4C14-A482-14D54FB923BE}" type="datetime6">
              <a:rPr lang="en-US" smtClean="0"/>
            </a:fld>
            <a:endParaRPr lang="en-US"/>
          </a:p>
        </p:txBody>
      </p:sp>
      <p:pic>
        <p:nvPicPr>
          <p:cNvPr id="4" name="Picture 3"/>
          <p:cNvPicPr>
            <a:picLocks noChangeAspect="1"/>
          </p:cNvPicPr>
          <p:nvPr/>
        </p:nvPicPr>
        <p:blipFill>
          <a:blip r:embed="rId1"/>
          <a:stretch>
            <a:fillRect/>
          </a:stretch>
        </p:blipFill>
        <p:spPr>
          <a:xfrm>
            <a:off x="1151890" y="2937510"/>
            <a:ext cx="6574790" cy="1539240"/>
          </a:xfrm>
          <a:prstGeom prst="rect">
            <a:avLst/>
          </a:prstGeom>
        </p:spPr>
      </p:pic>
      <p:sp>
        <p:nvSpPr>
          <p:cNvPr id="6" name="Text Box 5"/>
          <p:cNvSpPr txBox="1"/>
          <p:nvPr/>
        </p:nvSpPr>
        <p:spPr>
          <a:xfrm>
            <a:off x="2264410" y="1549718"/>
            <a:ext cx="5080000" cy="337185"/>
          </a:xfrm>
          <a:prstGeom prst="rect">
            <a:avLst/>
          </a:prstGeom>
        </p:spPr>
        <p:txBody>
          <a:bodyPr>
            <a:spAutoFit/>
          </a:bodyPr>
          <a:p>
            <a:r>
              <a:rPr lang="en-US" altLang="en-US" sz="1600" b="1">
                <a:latin typeface="Times New Roman" panose="02020603050405020304" pitchFamily="18" charset="0"/>
                <a:cs typeface="Times New Roman" panose="02020603050405020304" pitchFamily="18" charset="0"/>
              </a:rPr>
              <a:t>Feature Extraction &amp; Classification (CNN)</a:t>
            </a:r>
            <a:endParaRPr lang="en-US" altLang="en-US" sz="1600" b="1">
              <a:latin typeface="Times New Roman" panose="02020603050405020304" pitchFamily="18" charset="0"/>
              <a:cs typeface="Times New Roman" panose="02020603050405020304" pitchFamily="18" charset="0"/>
            </a:endParaRPr>
          </a:p>
        </p:txBody>
      </p:sp>
      <p:sp>
        <p:nvSpPr>
          <p:cNvPr id="7" name="Text Box 6"/>
          <p:cNvSpPr txBox="1"/>
          <p:nvPr/>
        </p:nvSpPr>
        <p:spPr>
          <a:xfrm>
            <a:off x="767715" y="1910715"/>
            <a:ext cx="7760970" cy="829945"/>
          </a:xfrm>
          <a:prstGeom prst="rect">
            <a:avLst/>
          </a:prstGeom>
        </p:spPr>
        <p:txBody>
          <a:bodyPr wrap="square">
            <a:spAutoFit/>
          </a:bodyPr>
          <a:p>
            <a:r>
              <a:rPr sz="1600">
                <a:latin typeface="Times New Roman" panose="02020603050405020304" pitchFamily="18" charset="0"/>
                <a:cs typeface="Times New Roman" panose="02020603050405020304" pitchFamily="18" charset="0"/>
              </a:rPr>
              <a:t>Flow:</a:t>
            </a:r>
            <a:endParaRPr sz="1600">
              <a:latin typeface="Times New Roman" panose="02020603050405020304" pitchFamily="18" charset="0"/>
              <a:cs typeface="Times New Roman" panose="02020603050405020304" pitchFamily="18" charset="0"/>
            </a:endParaRPr>
          </a:p>
          <a:p>
            <a:r>
              <a:rPr sz="1600">
                <a:latin typeface="Times New Roman" panose="02020603050405020304" pitchFamily="18" charset="0"/>
                <a:cs typeface="Times New Roman" panose="02020603050405020304" pitchFamily="18" charset="0"/>
              </a:rPr>
              <a:t> Processed Image → Feature Extraction → CNN Model → Class Prediction</a:t>
            </a:r>
            <a:endParaRPr sz="1600">
              <a:latin typeface="Times New Roman" panose="02020603050405020304" pitchFamily="18" charset="0"/>
              <a:cs typeface="Times New Roman" panose="02020603050405020304" pitchFamily="18" charset="0"/>
            </a:endParaRPr>
          </a:p>
          <a:p>
            <a:r>
              <a:rPr sz="1600">
                <a:latin typeface="Times New Roman" panose="02020603050405020304" pitchFamily="18" charset="0"/>
                <a:cs typeface="Times New Roman" panose="02020603050405020304" pitchFamily="18" charset="0"/>
              </a:rPr>
              <a:t>Example: The model detects color/texture and identifies if coral is bleached or healthy.</a:t>
            </a:r>
            <a:endParaRPr sz="1600">
              <a:latin typeface="Times New Roman" panose="02020603050405020304" pitchFamily="18" charset="0"/>
              <a:cs typeface="Times New Roman" panose="02020603050405020304" pitchFamily="18" charset="0"/>
            </a:endParaRPr>
          </a:p>
        </p:txBody>
      </p:sp>
      <p:pic>
        <p:nvPicPr>
          <p:cNvPr id="8"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029" y="594703"/>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aveetha Institute of Medical and Technical Sciences -SIMATS | Chenn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Title 1"/>
          <p:cNvSpPr>
            <a:spLocks noGrp="1"/>
          </p:cNvSpPr>
          <p:nvPr>
            <p:ph type="title"/>
          </p:nvPr>
        </p:nvSpPr>
        <p:spPr/>
        <p:txBody>
          <a:bodyPr>
            <a:normAutofit fontScale="90000"/>
          </a:bodyPr>
          <a:p>
            <a:r>
              <a:rPr lang="en-IN" altLang="en-US" b="1">
                <a:latin typeface="Times New Roman" panose="02020603050405020304" pitchFamily="18" charset="0"/>
                <a:cs typeface="Times New Roman" panose="02020603050405020304" pitchFamily="18" charset="0"/>
              </a:rPr>
              <a:t>MODULE 3</a:t>
            </a:r>
            <a:br>
              <a:rPr lang="en-IN" altLang="en-US" b="1">
                <a:latin typeface="Times New Roman" panose="02020603050405020304" pitchFamily="18" charset="0"/>
                <a:cs typeface="Times New Roman" panose="02020603050405020304" pitchFamily="18" charset="0"/>
              </a:rPr>
            </a:br>
            <a:r>
              <a:rPr lang="en-US" altLang="en-US">
                <a:latin typeface="Times New Roman" panose="02020603050405020304" pitchFamily="18" charset="0"/>
                <a:cs typeface="Times New Roman" panose="02020603050405020304" pitchFamily="18" charset="0"/>
              </a:rPr>
              <a:t>Prediction &amp; Result Display</a:t>
            </a:r>
            <a:endParaRPr lang="en-US" altLang="en-US">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p>
            <a:fld id="{AF5A71B3-99A7-4C14-A482-14D54FB923BE}" type="datetime6">
              <a:rPr lang="en-US" smtClean="0"/>
            </a:fld>
            <a:endParaRPr lang="en-US"/>
          </a:p>
        </p:txBody>
      </p:sp>
      <p:pic>
        <p:nvPicPr>
          <p:cNvPr id="4"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029" y="579463"/>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0403"/>
            <a:ext cx="836149" cy="836149"/>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5"/>
          <p:cNvSpPr txBox="1"/>
          <p:nvPr/>
        </p:nvSpPr>
        <p:spPr>
          <a:xfrm>
            <a:off x="752475" y="1910715"/>
            <a:ext cx="7947025" cy="1076325"/>
          </a:xfrm>
          <a:prstGeom prst="rect">
            <a:avLst/>
          </a:prstGeom>
        </p:spPr>
        <p:txBody>
          <a:bodyPr wrap="square">
            <a:spAutoFit/>
          </a:bodyPr>
          <a:p>
            <a:r>
              <a:rPr sz="1600">
                <a:latin typeface="Times New Roman" panose="02020603050405020304" pitchFamily="18" charset="0"/>
                <a:cs typeface="Times New Roman" panose="02020603050405020304" pitchFamily="18" charset="0"/>
              </a:rPr>
              <a:t>Flow:</a:t>
            </a:r>
            <a:endParaRPr sz="1600">
              <a:latin typeface="Times New Roman" panose="02020603050405020304" pitchFamily="18" charset="0"/>
              <a:cs typeface="Times New Roman" panose="02020603050405020304" pitchFamily="18" charset="0"/>
            </a:endParaRPr>
          </a:p>
          <a:p>
            <a:r>
              <a:rPr sz="1600">
                <a:latin typeface="Times New Roman" panose="02020603050405020304" pitchFamily="18" charset="0"/>
                <a:cs typeface="Times New Roman" panose="02020603050405020304" pitchFamily="18" charset="0"/>
              </a:rPr>
              <a:t> </a:t>
            </a:r>
            <a:r>
              <a:rPr lang="en-IN" sz="1600">
                <a:latin typeface="Times New Roman" panose="02020603050405020304" pitchFamily="18" charset="0"/>
                <a:cs typeface="Times New Roman" panose="02020603050405020304" pitchFamily="18" charset="0"/>
              </a:rPr>
              <a:t>I</a:t>
            </a:r>
            <a:r>
              <a:rPr sz="1600">
                <a:latin typeface="Times New Roman" panose="02020603050405020304" pitchFamily="18" charset="0"/>
                <a:cs typeface="Times New Roman" panose="02020603050405020304" pitchFamily="18" charset="0"/>
              </a:rPr>
              <a:t>nput Image → Model Output → Prediction + Confidence → Display Result</a:t>
            </a:r>
            <a:endParaRPr sz="1600">
              <a:latin typeface="Times New Roman" panose="02020603050405020304" pitchFamily="18" charset="0"/>
              <a:cs typeface="Times New Roman" panose="02020603050405020304" pitchFamily="18" charset="0"/>
            </a:endParaRPr>
          </a:p>
          <a:p>
            <a:r>
              <a:rPr sz="1600">
                <a:latin typeface="Times New Roman" panose="02020603050405020304" pitchFamily="18" charset="0"/>
                <a:cs typeface="Times New Roman" panose="02020603050405020304" pitchFamily="18" charset="0"/>
              </a:rPr>
              <a:t>Example Output:</a:t>
            </a:r>
            <a:endParaRPr sz="1600">
              <a:latin typeface="Times New Roman" panose="02020603050405020304" pitchFamily="18" charset="0"/>
              <a:cs typeface="Times New Roman" panose="02020603050405020304" pitchFamily="18" charset="0"/>
            </a:endParaRPr>
          </a:p>
          <a:p>
            <a:r>
              <a:rPr sz="1600">
                <a:latin typeface="Times New Roman" panose="02020603050405020304" pitchFamily="18" charset="0"/>
                <a:cs typeface="Times New Roman" panose="02020603050405020304" pitchFamily="18" charset="0"/>
              </a:rPr>
              <a:t>Bleached Coral | 89% | Status: Warning</a:t>
            </a:r>
            <a:endParaRPr sz="1600">
              <a:latin typeface="Times New Roman" panose="02020603050405020304" pitchFamily="18" charset="0"/>
              <a:cs typeface="Times New Roman" panose="02020603050405020304" pitchFamily="18" charset="0"/>
            </a:endParaRPr>
          </a:p>
        </p:txBody>
      </p:sp>
      <p:pic>
        <p:nvPicPr>
          <p:cNvPr id="7" name="Picture 6" descr="Screenshot 2026-08-14 104632"/>
          <p:cNvPicPr>
            <a:picLocks noChangeAspect="1"/>
          </p:cNvPicPr>
          <p:nvPr/>
        </p:nvPicPr>
        <p:blipFill>
          <a:blip r:embed="rId3"/>
          <a:stretch>
            <a:fillRect/>
          </a:stretch>
        </p:blipFill>
        <p:spPr>
          <a:xfrm>
            <a:off x="791210" y="3183255"/>
            <a:ext cx="7847965" cy="14141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309489" y="423839"/>
            <a:ext cx="8229600" cy="822960"/>
          </a:xfrm>
          <a:prstGeom prst="rect">
            <a:avLst/>
          </a:prstGeom>
          <a:noFill/>
        </p:spPr>
        <p:txBody>
          <a:bodyPr wrap="square" rtlCol="0" anchor="ctr"/>
          <a:lstStyle/>
          <a:p>
            <a:pPr algn="ctr"/>
            <a:r>
              <a:rPr lang="en-IN" altLang="en-US" sz="3600" b="1" u="sng" dirty="0">
                <a:solidFill>
                  <a:srgbClr val="002060"/>
                </a:solidFill>
                <a:latin typeface="Times New Roman" panose="02020603050405020304" pitchFamily="18" charset="0"/>
                <a:cs typeface="Times New Roman" panose="02020603050405020304" pitchFamily="18" charset="0"/>
              </a:rPr>
              <a:t>Coral Health States </a:t>
            </a:r>
            <a:endParaRPr lang="en-IN" altLang="en-US" sz="3600" u="sng" dirty="0">
              <a:solidFill>
                <a:srgbClr val="002060"/>
              </a:solidFill>
              <a:latin typeface="Times New Roman" panose="02020603050405020304" pitchFamily="18" charset="0"/>
              <a:cs typeface="Times New Roman" panose="02020603050405020304" pitchFamily="18" charset="0"/>
            </a:endParaRPr>
          </a:p>
        </p:txBody>
      </p:sp>
      <p:sp>
        <p:nvSpPr>
          <p:cNvPr id="5" name="Text 1"/>
          <p:cNvSpPr/>
          <p:nvPr/>
        </p:nvSpPr>
        <p:spPr>
          <a:xfrm>
            <a:off x="1366289" y="1350655"/>
            <a:ext cx="1681285" cy="369333"/>
          </a:xfrm>
          <a:prstGeom prst="rect">
            <a:avLst/>
          </a:prstGeom>
          <a:noFill/>
        </p:spPr>
        <p:txBody>
          <a:bodyPr wrap="square" rtlCol="0" anchor="t"/>
          <a:lstStyle/>
          <a:p>
            <a:endParaRPr lang="en-US" sz="1600" b="1" u="sng" dirty="0">
              <a:latin typeface="Times New Roman" panose="02020603050405020304" pitchFamily="18" charset="0"/>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73954"/>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10248" name="Image 2" descr="coral_states.png"/>
          <p:cNvPicPr>
            <a:picLocks noChangeAspect="1"/>
          </p:cNvPicPr>
          <p:nvPr/>
        </p:nvPicPr>
        <p:blipFill>
          <a:blip r:embed="rId3"/>
          <a:stretch>
            <a:fillRect/>
          </a:stretch>
        </p:blipFill>
        <p:spPr>
          <a:xfrm>
            <a:off x="956310" y="1942465"/>
            <a:ext cx="7534910" cy="213677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407962"/>
            <a:ext cx="8229600" cy="891371"/>
          </a:xfrm>
          <a:prstGeom prst="rect">
            <a:avLst/>
          </a:prstGeom>
          <a:noFill/>
        </p:spPr>
        <p:txBody>
          <a:bodyPr wrap="square" rtlCol="0" anchor="ctr"/>
          <a:lstStyle/>
          <a:p>
            <a:pPr algn="ctr"/>
            <a:r>
              <a:rPr lang="en-IN" altLang="en-US" sz="3600" b="1" u="sng" dirty="0">
                <a:solidFill>
                  <a:srgbClr val="002060"/>
                </a:solidFill>
                <a:latin typeface="Times New Roman" panose="02020603050405020304" pitchFamily="18" charset="0"/>
                <a:ea typeface="Optima" pitchFamily="34" charset="-122"/>
                <a:cs typeface="Times New Roman" panose="02020603050405020304" pitchFamily="18" charset="0"/>
              </a:rPr>
              <a:t>DATA SET </a:t>
            </a:r>
            <a:endParaRPr lang="en-IN" altLang="en-US" sz="3600" b="1" u="sng" dirty="0">
              <a:solidFill>
                <a:srgbClr val="002060"/>
              </a:solidFill>
              <a:latin typeface="Times New Roman" panose="02020603050405020304" pitchFamily="18" charset="0"/>
              <a:ea typeface="Optima" pitchFamily="34" charset="-122"/>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63184"/>
            <a:ext cx="769568" cy="8361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p:cNvGraphicFramePr/>
          <p:nvPr/>
        </p:nvGraphicFramePr>
        <p:xfrm>
          <a:off x="670560" y="1348740"/>
          <a:ext cx="7833360" cy="2994660"/>
        </p:xfrm>
        <a:graphic>
          <a:graphicData uri="http://schemas.openxmlformats.org/drawingml/2006/table">
            <a:tbl>
              <a:tblPr/>
              <a:tblGrid>
                <a:gridCol w="1305560"/>
                <a:gridCol w="1305560"/>
                <a:gridCol w="1305560"/>
                <a:gridCol w="1305560"/>
                <a:gridCol w="1305560"/>
                <a:gridCol w="1305560"/>
              </a:tblGrid>
              <a:tr h="332740">
                <a:tc>
                  <a:txBody>
                    <a:bodyPr/>
                    <a:p>
                      <a:r>
                        <a:rPr sz="1100"/>
                        <a:t>S.No</a:t>
                      </a:r>
                      <a:endParaRPr sz="1100"/>
                    </a:p>
                  </a:txBody>
                  <a:tcPr marL="0" marR="0" marT="0" marB="0" anchor="ctr" anchorCtr="0">
                    <a:lnL>
                      <a:noFill/>
                    </a:lnL>
                    <a:lnR>
                      <a:noFill/>
                    </a:lnR>
                    <a:lnT>
                      <a:noFill/>
                    </a:lnT>
                    <a:lnB>
                      <a:noFill/>
                    </a:lnB>
                    <a:noFill/>
                  </a:tcPr>
                </a:tc>
                <a:tc>
                  <a:txBody>
                    <a:bodyPr/>
                    <a:p>
                      <a:r>
                        <a:rPr sz="1100"/>
                        <a:t>Image</a:t>
                      </a:r>
                      <a:endParaRPr sz="1100"/>
                    </a:p>
                  </a:txBody>
                  <a:tcPr marL="0" marR="0" marT="0" marB="0" anchor="ctr" anchorCtr="0">
                    <a:lnL>
                      <a:noFill/>
                    </a:lnL>
                    <a:lnR>
                      <a:noFill/>
                    </a:lnR>
                    <a:lnT>
                      <a:noFill/>
                    </a:lnT>
                    <a:lnB>
                      <a:noFill/>
                    </a:lnB>
                    <a:noFill/>
                  </a:tcPr>
                </a:tc>
                <a:tc>
                  <a:txBody>
                    <a:bodyPr/>
                    <a:p>
                      <a:r>
                        <a:rPr sz="1100"/>
                        <a:t>Healthy</a:t>
                      </a:r>
                      <a:endParaRPr sz="1100"/>
                    </a:p>
                  </a:txBody>
                  <a:tcPr marL="0" marR="0" marT="0" marB="0" anchor="ctr" anchorCtr="0">
                    <a:lnL>
                      <a:noFill/>
                    </a:lnL>
                    <a:lnR>
                      <a:noFill/>
                    </a:lnR>
                    <a:lnT>
                      <a:noFill/>
                    </a:lnT>
                    <a:lnB>
                      <a:noFill/>
                    </a:lnB>
                    <a:noFill/>
                  </a:tcPr>
                </a:tc>
                <a:tc>
                  <a:txBody>
                    <a:bodyPr/>
                    <a:p>
                      <a:r>
                        <a:rPr sz="1100"/>
                        <a:t>Bleached</a:t>
                      </a:r>
                      <a:endParaRPr sz="1100"/>
                    </a:p>
                  </a:txBody>
                  <a:tcPr marL="0" marR="0" marT="0" marB="0" anchor="ctr" anchorCtr="0">
                    <a:lnL>
                      <a:noFill/>
                    </a:lnL>
                    <a:lnR>
                      <a:noFill/>
                    </a:lnR>
                    <a:lnT>
                      <a:noFill/>
                    </a:lnT>
                    <a:lnB>
                      <a:noFill/>
                    </a:lnB>
                    <a:noFill/>
                  </a:tcPr>
                </a:tc>
                <a:tc>
                  <a:txBody>
                    <a:bodyPr/>
                    <a:p>
                      <a:r>
                        <a:rPr sz="1100"/>
                        <a:t>Diseased</a:t>
                      </a:r>
                      <a:endParaRPr sz="1100"/>
                    </a:p>
                  </a:txBody>
                  <a:tcPr marL="0" marR="0" marT="0" marB="0" anchor="ctr" anchorCtr="0">
                    <a:lnL>
                      <a:noFill/>
                    </a:lnL>
                    <a:lnR>
                      <a:noFill/>
                    </a:lnR>
                    <a:lnT>
                      <a:noFill/>
                    </a:lnT>
                    <a:lnB>
                      <a:noFill/>
                    </a:lnB>
                    <a:noFill/>
                  </a:tcPr>
                </a:tc>
                <a:tc>
                  <a:txBody>
                    <a:bodyPr/>
                    <a:p>
                      <a:r>
                        <a:rPr sz="1100"/>
                        <a:t>Dead</a:t>
                      </a:r>
                      <a:endParaRPr sz="1100"/>
                    </a:p>
                  </a:txBody>
                  <a:tcPr marL="0" marR="0" marT="0" marB="0" anchor="ctr" anchorCtr="0">
                    <a:lnL>
                      <a:noFill/>
                    </a:lnL>
                    <a:lnR>
                      <a:noFill/>
                    </a:lnR>
                    <a:lnT>
                      <a:noFill/>
                    </a:lnT>
                    <a:lnB>
                      <a:noFill/>
                    </a:lnB>
                    <a:noFill/>
                  </a:tcPr>
                </a:tc>
              </a:tr>
              <a:tr h="332740">
                <a:tc>
                  <a:txBody>
                    <a:bodyPr/>
                    <a:p>
                      <a:r>
                        <a:rPr sz="1100"/>
                        <a:t>1</a:t>
                      </a:r>
                      <a:endParaRPr sz="1100"/>
                    </a:p>
                  </a:txBody>
                  <a:tcPr marL="0" marR="0" marT="0" marB="0" anchor="ctr" anchorCtr="0">
                    <a:lnL>
                      <a:noFill/>
                    </a:lnL>
                    <a:lnR>
                      <a:noFill/>
                    </a:lnR>
                    <a:lnT>
                      <a:noFill/>
                    </a:lnT>
                    <a:lnB>
                      <a:noFill/>
                    </a:lnB>
                    <a:noFill/>
                  </a:tcPr>
                </a:tc>
                <a:tc>
                  <a:txBody>
                    <a:bodyPr/>
                    <a:p>
                      <a:r>
                        <a:rPr sz="1100"/>
                        <a:t>Coral Image 1</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r>
              <a:tr h="332740">
                <a:tc>
                  <a:txBody>
                    <a:bodyPr/>
                    <a:p>
                      <a:r>
                        <a:rPr sz="1100"/>
                        <a:t>2</a:t>
                      </a:r>
                      <a:endParaRPr sz="1100"/>
                    </a:p>
                  </a:txBody>
                  <a:tcPr marL="0" marR="0" marT="0" marB="0" anchor="ctr" anchorCtr="0">
                    <a:lnL>
                      <a:noFill/>
                    </a:lnL>
                    <a:lnR>
                      <a:noFill/>
                    </a:lnR>
                    <a:lnT>
                      <a:noFill/>
                    </a:lnT>
                    <a:lnB>
                      <a:noFill/>
                    </a:lnB>
                    <a:noFill/>
                  </a:tcPr>
                </a:tc>
                <a:tc>
                  <a:txBody>
                    <a:bodyPr/>
                    <a:p>
                      <a:r>
                        <a:rPr sz="1100"/>
                        <a:t>Coral Image 2</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r>
              <a:tr h="332740">
                <a:tc>
                  <a:txBody>
                    <a:bodyPr/>
                    <a:p>
                      <a:r>
                        <a:rPr sz="1100"/>
                        <a:t>3</a:t>
                      </a:r>
                      <a:endParaRPr sz="1100"/>
                    </a:p>
                  </a:txBody>
                  <a:tcPr marL="0" marR="0" marT="0" marB="0" anchor="ctr" anchorCtr="0">
                    <a:lnL>
                      <a:noFill/>
                    </a:lnL>
                    <a:lnR>
                      <a:noFill/>
                    </a:lnR>
                    <a:lnT>
                      <a:noFill/>
                    </a:lnT>
                    <a:lnB>
                      <a:noFill/>
                    </a:lnB>
                    <a:noFill/>
                  </a:tcPr>
                </a:tc>
                <a:tc>
                  <a:txBody>
                    <a:bodyPr/>
                    <a:p>
                      <a:r>
                        <a:rPr sz="1100"/>
                        <a:t>Coral Image 3</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r>
              <a:tr h="332740">
                <a:tc>
                  <a:txBody>
                    <a:bodyPr/>
                    <a:p>
                      <a:r>
                        <a:rPr sz="1100"/>
                        <a:t>4</a:t>
                      </a:r>
                      <a:endParaRPr sz="1100"/>
                    </a:p>
                  </a:txBody>
                  <a:tcPr marL="0" marR="0" marT="0" marB="0" anchor="ctr" anchorCtr="0">
                    <a:lnL>
                      <a:noFill/>
                    </a:lnL>
                    <a:lnR>
                      <a:noFill/>
                    </a:lnR>
                    <a:lnT>
                      <a:noFill/>
                    </a:lnT>
                    <a:lnB>
                      <a:noFill/>
                    </a:lnB>
                    <a:noFill/>
                  </a:tcPr>
                </a:tc>
                <a:tc>
                  <a:txBody>
                    <a:bodyPr/>
                    <a:p>
                      <a:r>
                        <a:rPr sz="1100"/>
                        <a:t>Coral Image 4</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r>
              <a:tr h="332740">
                <a:tc>
                  <a:txBody>
                    <a:bodyPr/>
                    <a:p>
                      <a:r>
                        <a:rPr sz="1100"/>
                        <a:t>5</a:t>
                      </a:r>
                      <a:endParaRPr sz="1100"/>
                    </a:p>
                  </a:txBody>
                  <a:tcPr marL="0" marR="0" marT="0" marB="0" anchor="ctr" anchorCtr="0">
                    <a:lnL>
                      <a:noFill/>
                    </a:lnL>
                    <a:lnR>
                      <a:noFill/>
                    </a:lnR>
                    <a:lnT>
                      <a:noFill/>
                    </a:lnT>
                    <a:lnB>
                      <a:noFill/>
                    </a:lnB>
                    <a:noFill/>
                  </a:tcPr>
                </a:tc>
                <a:tc>
                  <a:txBody>
                    <a:bodyPr/>
                    <a:p>
                      <a:r>
                        <a:rPr sz="1100"/>
                        <a:t>Coral Image 5</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r>
              <a:tr h="332740">
                <a:tc>
                  <a:txBody>
                    <a:bodyPr/>
                    <a:p>
                      <a:r>
                        <a:rPr sz="1100"/>
                        <a:t>6</a:t>
                      </a:r>
                      <a:endParaRPr sz="1100"/>
                    </a:p>
                  </a:txBody>
                  <a:tcPr marL="0" marR="0" marT="0" marB="0" anchor="ctr" anchorCtr="0">
                    <a:lnL>
                      <a:noFill/>
                    </a:lnL>
                    <a:lnR>
                      <a:noFill/>
                    </a:lnR>
                    <a:lnT>
                      <a:noFill/>
                    </a:lnT>
                    <a:lnB>
                      <a:noFill/>
                    </a:lnB>
                    <a:noFill/>
                  </a:tcPr>
                </a:tc>
                <a:tc>
                  <a:txBody>
                    <a:bodyPr/>
                    <a:p>
                      <a:r>
                        <a:rPr sz="1100"/>
                        <a:t>Coral Image 6</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r>
              <a:tr h="332740">
                <a:tc>
                  <a:txBody>
                    <a:bodyPr/>
                    <a:p>
                      <a:r>
                        <a:rPr sz="1100"/>
                        <a:t>7</a:t>
                      </a:r>
                      <a:endParaRPr sz="1100"/>
                    </a:p>
                  </a:txBody>
                  <a:tcPr marL="0" marR="0" marT="0" marB="0" anchor="ctr" anchorCtr="0">
                    <a:lnL>
                      <a:noFill/>
                    </a:lnL>
                    <a:lnR>
                      <a:noFill/>
                    </a:lnR>
                    <a:lnT>
                      <a:noFill/>
                    </a:lnT>
                    <a:lnB>
                      <a:noFill/>
                    </a:lnB>
                    <a:noFill/>
                  </a:tcPr>
                </a:tc>
                <a:tc>
                  <a:txBody>
                    <a:bodyPr/>
                    <a:p>
                      <a:r>
                        <a:rPr sz="1100"/>
                        <a:t>Coral Image 7</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r>
              <a:tr h="332740">
                <a:tc>
                  <a:txBody>
                    <a:bodyPr/>
                    <a:p>
                      <a:r>
                        <a:rPr sz="1100"/>
                        <a:t>8</a:t>
                      </a:r>
                      <a:endParaRPr sz="1100"/>
                    </a:p>
                  </a:txBody>
                  <a:tcPr marL="0" marR="0" marT="0" marB="0" anchor="ctr" anchorCtr="0">
                    <a:lnL>
                      <a:noFill/>
                    </a:lnL>
                    <a:lnR>
                      <a:noFill/>
                    </a:lnR>
                    <a:lnT>
                      <a:noFill/>
                    </a:lnT>
                    <a:lnB>
                      <a:noFill/>
                    </a:lnB>
                    <a:noFill/>
                  </a:tcPr>
                </a:tc>
                <a:tc>
                  <a:txBody>
                    <a:bodyPr/>
                    <a:p>
                      <a:r>
                        <a:rPr sz="1100"/>
                        <a:t>Coral Image 8</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Title 1"/>
          <p:cNvSpPr>
            <a:spLocks noGrp="1"/>
          </p:cNvSpPr>
          <p:nvPr>
            <p:ph type="title"/>
          </p:nvPr>
        </p:nvSpPr>
        <p:spPr>
          <a:xfrm>
            <a:off x="971552" y="462280"/>
            <a:ext cx="7200897" cy="977900"/>
          </a:xfrm>
        </p:spPr>
        <p:txBody>
          <a:bodyPr/>
          <a:p>
            <a:r>
              <a:rPr lang="en-IN" altLang="en-US" b="1" u="sng">
                <a:latin typeface="Times New Roman" panose="02020603050405020304" pitchFamily="18" charset="0"/>
                <a:cs typeface="Times New Roman" panose="02020603050405020304" pitchFamily="18" charset="0"/>
              </a:rPr>
              <a:t>CODE </a:t>
            </a:r>
            <a:endParaRPr lang="en-IN" altLang="en-US" b="1" u="sng">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p>
            <a:fld id="{AF5A71B3-99A7-4C14-A482-14D54FB923BE}" type="datetime6">
              <a:rPr lang="en-US" smtClean="0"/>
            </a:fld>
            <a:endParaRPr lang="en-US"/>
          </a:p>
        </p:txBody>
      </p:sp>
      <p:sp>
        <p:nvSpPr>
          <p:cNvPr id="4" name="Text Box 3"/>
          <p:cNvSpPr txBox="1"/>
          <p:nvPr/>
        </p:nvSpPr>
        <p:spPr>
          <a:xfrm>
            <a:off x="1152525" y="746760"/>
            <a:ext cx="3124200" cy="4154170"/>
          </a:xfrm>
          <a:prstGeom prst="rect">
            <a:avLst/>
          </a:prstGeom>
          <a:noFill/>
        </p:spPr>
        <p:txBody>
          <a:bodyPr wrap="square" rtlCol="0">
            <a:spAutoFit/>
          </a:bodyPr>
          <a:p>
            <a:endParaRPr lang="en-US" altLang="en-US" sz="1100">
              <a:latin typeface="Times New Roman" panose="02020603050405020304" pitchFamily="18" charset="0"/>
              <a:cs typeface="Times New Roman" panose="02020603050405020304" pitchFamily="18" charset="0"/>
            </a:endParaRPr>
          </a:p>
          <a:p>
            <a:endParaRPr lang="en-US" altLang="en-US" sz="1100">
              <a:latin typeface="Times New Roman" panose="02020603050405020304" pitchFamily="18" charset="0"/>
              <a:cs typeface="Times New Roman" panose="02020603050405020304" pitchFamily="18" charset="0"/>
            </a:endParaRPr>
          </a:p>
          <a:p>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import numpy as np</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import matplotlib.pyplot as plt</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from tensorflow.keras.preprocessing import image</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from google.colab import files</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from PIL import Image</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import random</a:t>
            </a:r>
            <a:endParaRPr lang="en-US" altLang="en-US" sz="1100">
              <a:latin typeface="Times New Roman" panose="02020603050405020304" pitchFamily="18" charset="0"/>
              <a:cs typeface="Times New Roman" panose="02020603050405020304" pitchFamily="18" charset="0"/>
            </a:endParaRPr>
          </a:p>
          <a:p>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 Step 1: Upload Image</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uploaded = files.upload()</a:t>
            </a:r>
            <a:endParaRPr lang="en-US" altLang="en-US" sz="1100">
              <a:latin typeface="Times New Roman" panose="02020603050405020304" pitchFamily="18" charset="0"/>
              <a:cs typeface="Times New Roman" panose="02020603050405020304" pitchFamily="18" charset="0"/>
            </a:endParaRPr>
          </a:p>
          <a:p>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 Step 2: Load and Display Image</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for fn in uploaded.keys():</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img = Image.open(fn)</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plt.imshow(img)</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plt.axis('off')</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plt.title("Uploaded Image")</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plt.show()</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 Step 4: Dummy Prediction (for demo purpose)</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prediction = random.choice(classes)</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confidence = round(random.uniform(85, 98), 2)</a:t>
            </a:r>
            <a:endParaRPr lang="en-US" altLang="en-US" sz="1100">
              <a:latin typeface="Times New Roman" panose="02020603050405020304" pitchFamily="18" charset="0"/>
              <a:cs typeface="Times New Roman" panose="02020603050405020304" pitchFamily="18" charset="0"/>
            </a:endParaRPr>
          </a:p>
          <a:p>
            <a:endParaRPr lang="en-US" altLang="en-US" sz="1100">
              <a:latin typeface="Times New Roman" panose="02020603050405020304" pitchFamily="18" charset="0"/>
              <a:cs typeface="Times New Roman" panose="02020603050405020304" pitchFamily="18" charset="0"/>
            </a:endParaRPr>
          </a:p>
        </p:txBody>
      </p:sp>
      <p:sp>
        <p:nvSpPr>
          <p:cNvPr id="5" name="Text Box 4"/>
          <p:cNvSpPr txBox="1"/>
          <p:nvPr/>
        </p:nvSpPr>
        <p:spPr>
          <a:xfrm>
            <a:off x="4901565" y="1254760"/>
            <a:ext cx="3124200" cy="3646170"/>
          </a:xfrm>
          <a:prstGeom prst="rect">
            <a:avLst/>
          </a:prstGeom>
          <a:noFill/>
        </p:spPr>
        <p:txBody>
          <a:bodyPr wrap="square" rtlCol="0">
            <a:spAutoFit/>
          </a:bodyPr>
          <a:p>
            <a:r>
              <a:rPr lang="en-US" altLang="en-US" sz="1100">
                <a:latin typeface="Times New Roman" panose="02020603050405020304" pitchFamily="18" charset="0"/>
                <a:cs typeface="Times New Roman" panose="02020603050405020304" pitchFamily="18" charset="0"/>
              </a:rPr>
              <a:t># Step 5: Map Status</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if prediction == "Healthy":</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    status = "Good"</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    message = "Coral ecosystem is stable"</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elif prediction == "Bleached":</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    status = "Warning"</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    message = "Coral is under environmental stress"</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elif prediction == "Diseased":</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    status = "Risky"</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    message = "Coral health is declining"</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else:</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    status = "Critical"</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    message = "Coral ecosystem is damaged"</a:t>
            </a:r>
            <a:endParaRPr lang="en-US" altLang="en-US" sz="1100">
              <a:latin typeface="Times New Roman" panose="02020603050405020304" pitchFamily="18" charset="0"/>
              <a:cs typeface="Times New Roman" panose="02020603050405020304" pitchFamily="18" charset="0"/>
            </a:endParaRPr>
          </a:p>
          <a:p>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 Step 6: Show Output</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print("\n</a:t>
            </a:r>
            <a:r>
              <a:rPr lang="en-IN" altLang="en-US" sz="1100">
                <a:latin typeface="Times New Roman" panose="02020603050405020304" pitchFamily="18" charset="0"/>
                <a:cs typeface="Times New Roman" panose="02020603050405020304" pitchFamily="18" charset="0"/>
              </a:rPr>
              <a:t> </a:t>
            </a:r>
            <a:r>
              <a:rPr lang="en-US" altLang="en-US" sz="1100">
                <a:latin typeface="Times New Roman" panose="02020603050405020304" pitchFamily="18" charset="0"/>
                <a:cs typeface="Times New Roman" panose="02020603050405020304" pitchFamily="18" charset="0"/>
              </a:rPr>
              <a:t>RESULT")</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print("Prediction:", prediction)</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print("Confidence:", confidence, "%")</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print("Status:", status)</a:t>
            </a:r>
            <a:endParaRPr lang="en-US" altLang="en-US" sz="1100">
              <a:latin typeface="Times New Roman" panose="02020603050405020304" pitchFamily="18" charset="0"/>
              <a:cs typeface="Times New Roman" panose="02020603050405020304" pitchFamily="18" charset="0"/>
            </a:endParaRPr>
          </a:p>
          <a:p>
            <a:r>
              <a:rPr lang="en-US" altLang="en-US" sz="1100">
                <a:latin typeface="Times New Roman" panose="02020603050405020304" pitchFamily="18" charset="0"/>
                <a:cs typeface="Times New Roman" panose="02020603050405020304" pitchFamily="18" charset="0"/>
              </a:rPr>
              <a:t>print("Message:", message)</a:t>
            </a:r>
            <a:endParaRPr lang="en-US" altLang="en-US" sz="1100">
              <a:latin typeface="Times New Roman" panose="02020603050405020304" pitchFamily="18" charset="0"/>
              <a:cs typeface="Times New Roman" panose="02020603050405020304" pitchFamily="18" charset="0"/>
            </a:endParaRPr>
          </a:p>
          <a:p>
            <a:endParaRPr lang="en-US" altLang="en-US" sz="1100">
              <a:latin typeface="Times New Roman" panose="02020603050405020304" pitchFamily="18" charset="0"/>
              <a:cs typeface="Times New Roman" panose="02020603050405020304" pitchFamily="18" charset="0"/>
            </a:endParaRPr>
          </a:p>
        </p:txBody>
      </p:sp>
      <p:pic>
        <p:nvPicPr>
          <p:cNvPr id="6"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63184"/>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4"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56150"/>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547446" y="582931"/>
            <a:ext cx="6063176" cy="645160"/>
          </a:xfrm>
          <a:prstGeom prst="rect">
            <a:avLst/>
          </a:prstGeom>
          <a:noFill/>
        </p:spPr>
        <p:txBody>
          <a:bodyPr wrap="square" rtlCol="0">
            <a:spAutoFit/>
          </a:bodyPr>
          <a:lstStyle/>
          <a:p>
            <a:pPr algn="ctr"/>
            <a:r>
              <a:rPr lang="en-IN" sz="3600" b="1" u="sng" dirty="0" smtClean="0">
                <a:solidFill>
                  <a:srgbClr val="002060"/>
                </a:solidFill>
                <a:latin typeface="Times New Roman" panose="02020603050405020304" pitchFamily="18" charset="0"/>
                <a:cs typeface="Times New Roman" panose="02020603050405020304" pitchFamily="18" charset="0"/>
              </a:rPr>
              <a:t>RESULTS</a:t>
            </a:r>
            <a:endParaRPr lang="en-IN" sz="3600" b="1" u="sng" dirty="0">
              <a:solidFill>
                <a:srgbClr val="002060"/>
              </a:solidFill>
              <a:latin typeface="Times New Roman" panose="02020603050405020304" pitchFamily="18" charset="0"/>
              <a:cs typeface="Times New Roman" panose="02020603050405020304" pitchFamily="18" charset="0"/>
            </a:endParaRPr>
          </a:p>
        </p:txBody>
      </p:sp>
      <p:sp>
        <p:nvSpPr>
          <p:cNvPr id="7" name="Text Box 6"/>
          <p:cNvSpPr txBox="1"/>
          <p:nvPr/>
        </p:nvSpPr>
        <p:spPr>
          <a:xfrm>
            <a:off x="1829435" y="3821430"/>
            <a:ext cx="5781040" cy="368300"/>
          </a:xfrm>
          <a:prstGeom prst="rect">
            <a:avLst/>
          </a:prstGeom>
          <a:noFill/>
        </p:spPr>
        <p:txBody>
          <a:bodyPr wrap="square" rtlCol="0">
            <a:spAutoFit/>
          </a:bodyPr>
          <a:p>
            <a:r>
              <a:rPr lang="en-IN" altLang="en-US" b="1">
                <a:latin typeface="Times New Roman" panose="02020603050405020304" pitchFamily="18" charset="0"/>
                <a:cs typeface="Times New Roman" panose="02020603050405020304" pitchFamily="18" charset="0"/>
              </a:rPr>
              <a:t>                                                   </a:t>
            </a:r>
            <a:endParaRPr lang="en-IN" altLang="en-US" b="1">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1829435" y="1149350"/>
            <a:ext cx="5785485" cy="31159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4"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56150"/>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
        <p:nvSpPr>
          <p:cNvPr id="3" name="Text Box 2"/>
          <p:cNvSpPr txBox="1"/>
          <p:nvPr/>
        </p:nvSpPr>
        <p:spPr>
          <a:xfrm>
            <a:off x="1685925" y="754380"/>
            <a:ext cx="5532120" cy="583565"/>
          </a:xfrm>
          <a:prstGeom prst="rect">
            <a:avLst/>
          </a:prstGeom>
          <a:noFill/>
        </p:spPr>
        <p:txBody>
          <a:bodyPr wrap="square" rtlCol="0">
            <a:spAutoFit/>
          </a:bodyPr>
          <a:p>
            <a:pPr algn="ctr"/>
            <a:r>
              <a:rPr lang="en-IN" altLang="en-US" sz="3200" b="1"/>
              <a:t>APPLICATIONS </a:t>
            </a:r>
            <a:endParaRPr lang="en-IN" altLang="en-US" sz="3200" b="1"/>
          </a:p>
        </p:txBody>
      </p:sp>
      <p:sp>
        <p:nvSpPr>
          <p:cNvPr id="6" name="Text Box 5"/>
          <p:cNvSpPr txBox="1"/>
          <p:nvPr/>
        </p:nvSpPr>
        <p:spPr>
          <a:xfrm>
            <a:off x="764540" y="1524000"/>
            <a:ext cx="7904480" cy="3138170"/>
          </a:xfrm>
          <a:prstGeom prst="rect">
            <a:avLst/>
          </a:prstGeom>
          <a:noFill/>
        </p:spPr>
        <p:txBody>
          <a:bodyPr wrap="square" rtlCol="0">
            <a:spAutoFit/>
          </a:bodyPr>
          <a:p>
            <a:pPr marL="342900" indent="-342900" algn="just">
              <a:buFont typeface="+mj-lt"/>
              <a:buAutoNum type="arabicPeriod"/>
            </a:pPr>
            <a:r>
              <a:rPr lang="en-US" altLang="en-US" b="1">
                <a:latin typeface="Times New Roman" panose="02020603050405020304" pitchFamily="18" charset="0"/>
                <a:cs typeface="Times New Roman" panose="02020603050405020304" pitchFamily="18" charset="0"/>
              </a:rPr>
              <a:t>Marine Ecosystem Monitoring</a:t>
            </a:r>
            <a:r>
              <a:rPr lang="en-IN" altLang="en-US">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cs typeface="Times New Roman" panose="02020603050405020304" pitchFamily="18" charset="0"/>
              </a:rPr>
              <a:t>Detects early signs of bleaching or disease</a:t>
            </a:r>
            <a:endParaRPr lang="en-US" altLang="en-US">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altLang="en-US" b="1">
                <a:latin typeface="Times New Roman" panose="02020603050405020304" pitchFamily="18" charset="0"/>
                <a:cs typeface="Times New Roman" panose="02020603050405020304" pitchFamily="18" charset="0"/>
              </a:rPr>
              <a:t>Environmental Protection &amp; Climate Studies</a:t>
            </a:r>
            <a:r>
              <a:rPr lang="en-IN" altLang="en-US">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cs typeface="Times New Roman" panose="02020603050405020304" pitchFamily="18" charset="0"/>
              </a:rPr>
              <a:t>Useful for studying ocean temperature rise and pollution</a:t>
            </a:r>
            <a:endParaRPr lang="en-US" altLang="en-US">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altLang="en-US" b="1">
                <a:latin typeface="Times New Roman" panose="02020603050405020304" pitchFamily="18" charset="0"/>
                <a:cs typeface="Times New Roman" panose="02020603050405020304" pitchFamily="18" charset="0"/>
              </a:rPr>
              <a:t>Underwater Drone-Based Inspection</a:t>
            </a:r>
            <a:r>
              <a:rPr lang="en-IN" altLang="en-US">
                <a:latin typeface="Times New Roman" panose="02020603050405020304" pitchFamily="18" charset="0"/>
                <a:cs typeface="Times New Roman" panose="02020603050405020304" pitchFamily="18" charset="0"/>
                <a:sym typeface="+mn-ea"/>
              </a:rPr>
              <a:t>:</a:t>
            </a:r>
            <a:r>
              <a:rPr lang="en-US" altLang="en-US">
                <a:latin typeface="Times New Roman" panose="02020603050405020304" pitchFamily="18" charset="0"/>
                <a:cs typeface="Times New Roman" panose="02020603050405020304" pitchFamily="18" charset="0"/>
                <a:sym typeface="+mn-ea"/>
              </a:rPr>
              <a:t>Enables real-time coral monitoring in deep oceans</a:t>
            </a:r>
            <a:endParaRPr lang="en-US" altLang="en-US">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altLang="en-US" b="1">
                <a:latin typeface="Times New Roman" panose="02020603050405020304" pitchFamily="18" charset="0"/>
                <a:cs typeface="Times New Roman" panose="02020603050405020304" pitchFamily="18" charset="0"/>
              </a:rPr>
              <a:t>Mobile App for Public Awareness</a:t>
            </a:r>
            <a:r>
              <a:rPr lang="en-IN" altLang="en-US">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cs typeface="Times New Roman" panose="02020603050405020304" pitchFamily="18" charset="0"/>
              </a:rPr>
              <a:t>Users can click images and check coral health instantly</a:t>
            </a:r>
            <a:endParaRPr lang="en-US" altLang="en-US">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altLang="en-US" b="1">
                <a:latin typeface="Times New Roman" panose="02020603050405020304" pitchFamily="18" charset="0"/>
                <a:cs typeface="Times New Roman" panose="02020603050405020304" pitchFamily="18" charset="0"/>
              </a:rPr>
              <a:t>Tourism and Reef Management</a:t>
            </a:r>
            <a:r>
              <a:rPr lang="en-IN" altLang="en-US">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cs typeface="Times New Roman" panose="02020603050405020304" pitchFamily="18" charset="0"/>
              </a:rPr>
              <a:t>Helps identify safe and healthy reefs for tourism</a:t>
            </a:r>
            <a:endParaRPr lang="en-US" altLang="en-US">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altLang="en-US" b="1">
                <a:latin typeface="Times New Roman" panose="02020603050405020304" pitchFamily="18" charset="0"/>
                <a:cs typeface="Times New Roman" panose="02020603050405020304" pitchFamily="18" charset="0"/>
              </a:rPr>
              <a:t>Research and Education</a:t>
            </a:r>
            <a:r>
              <a:rPr lang="en-IN" altLang="en-US" b="1">
                <a:latin typeface="Times New Roman" panose="02020603050405020304" pitchFamily="18" charset="0"/>
                <a:cs typeface="Times New Roman" panose="02020603050405020304" pitchFamily="18" charset="0"/>
              </a:rPr>
              <a:t>:</a:t>
            </a:r>
            <a:r>
              <a:rPr lang="en-US" altLang="en-US">
                <a:latin typeface="Times New Roman" panose="02020603050405020304" pitchFamily="18" charset="0"/>
                <a:cs typeface="Times New Roman" panose="02020603050405020304" pitchFamily="18" charset="0"/>
              </a:rPr>
              <a:t>Helps students learn image processing and AI applications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5226" y="416197"/>
            <a:ext cx="8229600" cy="822960"/>
          </a:xfrm>
          <a:prstGeom prst="rect">
            <a:avLst/>
          </a:prstGeom>
          <a:noFill/>
        </p:spPr>
        <p:txBody>
          <a:bodyPr wrap="square" rtlCol="0" anchor="ctr"/>
          <a:lstStyle/>
          <a:p>
            <a:pPr algn="ctr"/>
            <a:r>
              <a:rPr lang="en-IN" altLang="en-US" sz="2400" b="1" u="sng" dirty="0">
                <a:solidFill>
                  <a:srgbClr val="002060"/>
                </a:solidFill>
                <a:latin typeface="Times New Roman" panose="02020603050405020304" pitchFamily="18" charset="0"/>
                <a:ea typeface="Optima" pitchFamily="34" charset="-122"/>
                <a:cs typeface="Times New Roman" panose="02020603050405020304" pitchFamily="18" charset="0"/>
              </a:rPr>
              <a:t>CHALLENGES AND FUTURE WORKS</a:t>
            </a:r>
            <a:endParaRPr lang="en-IN" altLang="en-US" sz="2400" b="1" u="sng" dirty="0">
              <a:solidFill>
                <a:srgbClr val="002060"/>
              </a:solidFill>
              <a:latin typeface="Times New Roman" panose="02020603050405020304" pitchFamily="18" charset="0"/>
              <a:ea typeface="Optima" pitchFamily="34" charset="-122"/>
              <a:cs typeface="Times New Roman" panose="02020603050405020304" pitchFamily="18" charset="0"/>
            </a:endParaRPr>
          </a:p>
        </p:txBody>
      </p:sp>
      <p:pic>
        <p:nvPicPr>
          <p:cNvPr id="4"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35048"/>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
          <p:cNvSpPr>
            <a:spLocks noChangeArrowheads="1"/>
          </p:cNvSpPr>
          <p:nvPr/>
        </p:nvSpPr>
        <p:spPr bwMode="auto">
          <a:xfrm>
            <a:off x="643255" y="1238885"/>
            <a:ext cx="5565775" cy="286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342900" lvl="0" indent="-342900" algn="just" defTabSz="914400" eaLnBrk="0" fontAlgn="base" hangingPunct="0">
              <a:spcBef>
                <a:spcPct val="0"/>
              </a:spcBef>
              <a:spcAft>
                <a:spcPct val="0"/>
              </a:spcAf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342900" lvl="0" indent="-342900" algn="just" defTabSz="914400" eaLnBrk="0" fontAlgn="base" hangingPunct="0">
              <a:spcBef>
                <a:spcPct val="0"/>
              </a:spcBef>
              <a:spcAft>
                <a:spcPct val="0"/>
              </a:spcAf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342900" lvl="0" indent="-34290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Coral health detection from images faces challenges such as poor underwater image quality, similarity between coral conditions, limited datasets, and environmental variations that affect accuracy. </a:t>
            </a:r>
            <a:endParaRPr lang="en-US" altLang="en-US" dirty="0">
              <a:latin typeface="Times New Roman" panose="02020603050405020304" pitchFamily="18" charset="0"/>
              <a:cs typeface="Times New Roman" panose="02020603050405020304" pitchFamily="18" charset="0"/>
            </a:endParaRPr>
          </a:p>
          <a:p>
            <a:pPr marL="342900" lvl="0" indent="-34290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Additionally, high computational requirements make real-time use difficult. In future, these issues can be addressed by using advanced deep learning models, improving datasets, and developing real-time systems with drones or mobile applications, along with integrating sensors for better monitoring and more accurate results.</a:t>
            </a:r>
            <a:endParaRPr lang="en-US" altLang="en-US"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6254750" y="1554480"/>
            <a:ext cx="2251710" cy="25463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Title 1"/>
          <p:cNvSpPr>
            <a:spLocks noGrp="1"/>
          </p:cNvSpPr>
          <p:nvPr>
            <p:ph type="title"/>
          </p:nvPr>
        </p:nvSpPr>
        <p:spPr>
          <a:xfrm>
            <a:off x="971552" y="488315"/>
            <a:ext cx="7200897" cy="977900"/>
          </a:xfrm>
        </p:spPr>
        <p:txBody>
          <a:bodyPr/>
          <a:p>
            <a:r>
              <a:rPr lang="en-IN" altLang="en-US" b="1">
                <a:latin typeface="Times New Roman" panose="02020603050405020304" pitchFamily="18" charset="0"/>
                <a:cs typeface="Times New Roman" panose="02020603050405020304" pitchFamily="18" charset="0"/>
              </a:rPr>
              <a:t>REFERENCES</a:t>
            </a:r>
            <a:endParaRPr lang="en-IN" altLang="en-US" b="1">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p>
            <a:endParaRPr lang="en-US"/>
          </a:p>
        </p:txBody>
      </p:sp>
      <p:pic>
        <p:nvPicPr>
          <p:cNvPr id="5"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35048"/>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9"/>
          <p:cNvSpPr txBox="1"/>
          <p:nvPr/>
        </p:nvSpPr>
        <p:spPr>
          <a:xfrm>
            <a:off x="836930" y="1466215"/>
            <a:ext cx="7470140" cy="3046095"/>
          </a:xfrm>
          <a:prstGeom prst="rect">
            <a:avLst/>
          </a:prstGeom>
        </p:spPr>
        <p:txBody>
          <a:bodyPr wrap="square">
            <a:spAutoFit/>
          </a:bodyPr>
          <a:p>
            <a:pPr marL="285750" indent="-285750" algn="just">
              <a:buFont typeface="Wingdings" panose="05000000000000000000" charset="0"/>
              <a:buChar char="Ø"/>
            </a:pPr>
            <a:r>
              <a:rPr lang="en-US" altLang="en-US" sz="1600">
                <a:latin typeface="Times New Roman" panose="02020603050405020304" pitchFamily="18" charset="0"/>
                <a:cs typeface="Times New Roman" panose="02020603050405020304" pitchFamily="18" charset="0"/>
              </a:rPr>
              <a:t>Beijbom, O., Edmunds, P. J., Kline, D. I., Mitchell, B. G., &amp; Kriegman, D. (2015). Towards automated annotation of benthic survey images: CoralNet.</a:t>
            </a:r>
            <a:endParaRPr lang="en-US" altLang="en-US"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1600">
                <a:latin typeface="Times New Roman" panose="02020603050405020304" pitchFamily="18" charset="0"/>
                <a:cs typeface="Times New Roman" panose="02020603050405020304" pitchFamily="18" charset="0"/>
              </a:rPr>
              <a:t>Kaggle (2023). Coral Reef Image Datasets. Available at: https://www.kaggle.com</a:t>
            </a:r>
            <a:endParaRPr lang="en-US" altLang="en-US"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1600">
                <a:latin typeface="Times New Roman" panose="02020603050405020304" pitchFamily="18" charset="0"/>
                <a:cs typeface="Times New Roman" panose="02020603050405020304" pitchFamily="18" charset="0"/>
              </a:rPr>
              <a:t>Digital Image Processing by Rafael C. Gonzalez and Richard E. Woods (Gonzalez, R. C., &amp; Woods, R. E., 2018).</a:t>
            </a:r>
            <a:endParaRPr lang="en-US" altLang="en-US"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1600">
                <a:latin typeface="Times New Roman" panose="02020603050405020304" pitchFamily="18" charset="0"/>
                <a:cs typeface="Times New Roman" panose="02020603050405020304" pitchFamily="18" charset="0"/>
              </a:rPr>
              <a:t>TensorFlow (Abadi, M. et al., 2016). TensorFlow: Large-Scale Machine Learning on Heterogeneous Systems.</a:t>
            </a:r>
            <a:endParaRPr lang="en-US" altLang="en-US"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1600">
                <a:latin typeface="Times New Roman" panose="02020603050405020304" pitchFamily="18" charset="0"/>
                <a:cs typeface="Times New Roman" panose="02020603050405020304" pitchFamily="18" charset="0"/>
              </a:rPr>
              <a:t>OpenCV (Bradski, G., 2000). The OpenCV Library.</a:t>
            </a:r>
            <a:endParaRPr lang="en-US" altLang="en-US"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1600">
                <a:latin typeface="Times New Roman" panose="02020603050405020304" pitchFamily="18" charset="0"/>
                <a:cs typeface="Times New Roman" panose="02020603050405020304" pitchFamily="18" charset="0"/>
              </a:rPr>
              <a:t>National Oceanic and Atmospheric Administration (NOAA) (NOAA, 2022). Coral Reef Conservation Program.</a:t>
            </a:r>
            <a:endParaRPr lang="en-US" altLang="en-US"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1600">
                <a:latin typeface="Times New Roman" panose="02020603050405020304" pitchFamily="18" charset="0"/>
                <a:cs typeface="Times New Roman" panose="02020603050405020304" pitchFamily="18" charset="0"/>
              </a:rPr>
              <a:t>Great Barrier Reef Marine Park Authority (GBRMPA, 2021). Coral Reef Status Reports.</a:t>
            </a:r>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13587" y="1830872"/>
            <a:ext cx="4904256" cy="786926"/>
          </a:xfrm>
        </p:spPr>
        <p:txBody>
          <a:bodyPr>
            <a:noAutofit/>
          </a:bodyPr>
          <a:lstStyle/>
          <a:p>
            <a:r>
              <a:rPr lang="en-IN" sz="8000" dirty="0">
                <a:solidFill>
                  <a:srgbClr val="002060"/>
                </a:solidFill>
                <a:latin typeface="Lucida Handwriting" panose="03010101010101010101" charset="0"/>
                <a:cs typeface="Lucida Handwriting" panose="03010101010101010101" charset="0"/>
              </a:rPr>
              <a:t>Thank you!!!</a:t>
            </a:r>
            <a:endParaRPr lang="en-IN" sz="8000" dirty="0">
              <a:solidFill>
                <a:srgbClr val="002060"/>
              </a:solidFill>
              <a:latin typeface="Lucida Handwriting" panose="03010101010101010101" charset="0"/>
              <a:cs typeface="Lucida Handwriting" panose="03010101010101010101" charset="0"/>
            </a:endParaRPr>
          </a:p>
        </p:txBody>
      </p:sp>
      <p:pic>
        <p:nvPicPr>
          <p:cNvPr id="5"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35048"/>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0</TotalTime>
  <Words>7194</Words>
  <Application>WPS Presentation</Application>
  <PresentationFormat>On-screen Show (16:9)</PresentationFormat>
  <Paragraphs>272</Paragraphs>
  <Slides>17</Slides>
  <Notes>10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17</vt:i4>
      </vt:variant>
    </vt:vector>
  </HeadingPairs>
  <TitlesOfParts>
    <vt:vector size="31" baseType="lpstr">
      <vt:lpstr>Arial</vt:lpstr>
      <vt:lpstr>SimSun</vt:lpstr>
      <vt:lpstr>Wingdings</vt:lpstr>
      <vt:lpstr>Arial</vt:lpstr>
      <vt:lpstr>Times New Roman</vt:lpstr>
      <vt:lpstr>Cambria</vt:lpstr>
      <vt:lpstr>Optima</vt:lpstr>
      <vt:lpstr>Wingdings</vt:lpstr>
      <vt:lpstr>Lucida Handwriting</vt:lpstr>
      <vt:lpstr>Microsoft YaHei</vt:lpstr>
      <vt:lpstr>Arial Unicode MS</vt:lpstr>
      <vt:lpstr>Garamond</vt:lpstr>
      <vt:lpstr>Calibri</vt:lpstr>
      <vt:lpstr>Organic</vt:lpstr>
      <vt:lpstr>PowerPoint 演示文稿</vt:lpstr>
      <vt:lpstr>PowerPoint 演示文稿</vt:lpstr>
      <vt:lpstr>  OBJECTIVES  </vt:lpstr>
      <vt:lpstr>PowerPoint 演示文稿</vt:lpstr>
      <vt:lpstr>PowerPoint 演示文稿</vt:lpstr>
      <vt:lpstr>PowerPoint 演示文稿</vt:lpstr>
      <vt:lpstr>MODULE 1 </vt:lpstr>
      <vt:lpstr>MODULE 2 </vt:lpstr>
      <vt:lpstr>MODULE 3 Prediction &amp; Result Display</vt:lpstr>
      <vt:lpstr>PowerPoint 演示文稿</vt:lpstr>
      <vt:lpstr>PowerPoint 演示文稿</vt:lpstr>
      <vt:lpstr>CODE </vt:lpstr>
      <vt:lpstr>PowerPoint 演示文稿</vt:lpstr>
      <vt:lpstr>PowerPoint 演示文稿</vt:lpstr>
      <vt:lpstr>PowerPoint 演示文稿</vt:lpstr>
      <vt:lpstr>REFERENCES</vt:lpstr>
      <vt:lpstr>Thank you!!!</vt:lpstr>
    </vt:vector>
  </TitlesOfParts>
  <Company>SlideMake.com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Analyze A Triple-Mode Calling Bell Using Transistors</dc:title>
  <dc:creator>SlideMake.com</dc:creator>
  <dc:subject>Design And Analyze A Triple-Mode Calling Bell Using Transistors</dc:subject>
  <cp:lastModifiedBy>aswini k</cp:lastModifiedBy>
  <cp:revision>38</cp:revision>
  <dcterms:created xsi:type="dcterms:W3CDTF">2025-03-19T04:22:00Z</dcterms:created>
  <dcterms:modified xsi:type="dcterms:W3CDTF">2026-09-06T06:07:48Z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4FF1698098614F6D94DE83AD551B1F43_13</vt:lpwstr>
  </property>
  <property fmtid="{D5CDD505-2E9C-101B-9397-08002B2CF9AE}" pid="3" name="KSOProductBuildVer">
    <vt:lpwstr>1033-12.1.0.28485</vt:lpwstr>
  </property>
</Properties>
</file>